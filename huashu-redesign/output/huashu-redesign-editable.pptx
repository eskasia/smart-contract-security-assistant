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50" y="2133600"/>
            <a:ext cx="11023550" cy="12650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3784550"/>
            <a:ext cx="11023550" cy="12650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84150" y="5435501"/>
            <a:ext cx="11023550" cy="12650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54301" y="507950"/>
            <a:ext cx="12650" cy="5740301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24600" y="507950"/>
            <a:ext cx="12650" cy="5740301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94750" y="507950"/>
            <a:ext cx="12650" cy="5740301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0" y="0"/>
            <a:ext cx="2984450" cy="6858000"/>
          </a:xfrm>
          <a:prstGeom prst="rect">
            <a:avLst/>
          </a:prstGeom>
          <a:solidFill>
            <a:srgbClr val="11211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984450" y="0"/>
            <a:ext cx="50750" cy="6858000"/>
          </a:xfrm>
          <a:prstGeom prst="rect">
            <a:avLst/>
          </a:prstGeom>
          <a:solidFill>
            <a:srgbClr val="39FF88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84150" y="533400"/>
            <a:ext cx="3238449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00" b="1" dirty="0">
                <a:solidFill>
                  <a:srgbClr val="39FF8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SMART CONTRACT SECURITY ASSISTANT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84150" y="1879550"/>
            <a:ext cx="9326880" cy="1564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5500" dirty="0">
                <a:solidFill>
                  <a:srgbClr val="F7F2D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智能合約</a:t>
            </a:r>
            <a:endParaRPr lang="en-US" sz="5500" dirty="0"/>
          </a:p>
          <a:p>
            <a:pPr algn="l" indent="0" marL="0">
              <a:lnSpc>
                <a:spcPts val="6160"/>
              </a:lnSpc>
              <a:buNone/>
            </a:pPr>
            <a:r>
              <a:rPr lang="en-US" sz="5500" dirty="0">
                <a:solidFill>
                  <a:srgbClr val="F7F2D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安全分析助理</a:t>
            </a:r>
            <a:endParaRPr lang="en-US" sz="5500" dirty="0"/>
          </a:p>
        </p:txBody>
      </p:sp>
      <p:sp>
        <p:nvSpPr>
          <p:cNvPr id="12" name="Text 10"/>
          <p:cNvSpPr/>
          <p:nvPr/>
        </p:nvSpPr>
        <p:spPr>
          <a:xfrm>
            <a:off x="609600" y="3911501"/>
            <a:ext cx="6736029" cy="490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9AA3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本地漏洞初篩、RAG 修復依據、MLX-ready 推理與 SQLite trace 組成一條可交付的安全分析管線。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600" y="5105400"/>
            <a:ext cx="1524000" cy="304800"/>
          </a:xfrm>
          <a:prstGeom prst="roundRect">
            <a:avLst>
              <a:gd name="adj" fmla="val 412500"/>
            </a:avLst>
          </a:prstGeom>
          <a:solidFill>
            <a:srgbClr val="12251C"/>
          </a:solidFill>
          <a:ln w="9525">
            <a:solidFill>
              <a:srgbClr val="39FF8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4076" y="5178326"/>
            <a:ext cx="1535049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000" b="1" dirty="0">
                <a:solidFill>
                  <a:srgbClr val="39FF8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Slither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5105400"/>
            <a:ext cx="1219200" cy="304800"/>
          </a:xfrm>
          <a:prstGeom prst="roundRect">
            <a:avLst>
              <a:gd name="adj" fmla="val 412500"/>
            </a:avLst>
          </a:prstGeom>
          <a:solidFill>
            <a:srgbClr val="12251C"/>
          </a:solidFill>
          <a:ln w="9525">
            <a:solidFill>
              <a:srgbClr val="39FF8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283524" y="5178326"/>
            <a:ext cx="1224153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000" b="1" dirty="0">
                <a:solidFill>
                  <a:srgbClr val="39FF8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RAG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5105400"/>
            <a:ext cx="1473101" cy="304800"/>
          </a:xfrm>
          <a:prstGeom prst="roundRect">
            <a:avLst>
              <a:gd name="adj" fmla="val 412500"/>
            </a:avLst>
          </a:prstGeom>
          <a:solidFill>
            <a:srgbClr val="12251C"/>
          </a:solidFill>
          <a:ln w="9525">
            <a:solidFill>
              <a:srgbClr val="39FF8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652584" y="5178326"/>
            <a:ext cx="1483132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000" b="1" dirty="0">
                <a:solidFill>
                  <a:srgbClr val="39FF8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MLX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83101" y="5105400"/>
            <a:ext cx="1650950" cy="304800"/>
          </a:xfrm>
          <a:prstGeom prst="roundRect">
            <a:avLst>
              <a:gd name="adj" fmla="val 412500"/>
            </a:avLst>
          </a:prstGeom>
          <a:solidFill>
            <a:srgbClr val="12251C"/>
          </a:solidFill>
          <a:ln w="9525">
            <a:solidFill>
              <a:srgbClr val="39FF8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76307" y="5178326"/>
            <a:ext cx="1664538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000" b="1" dirty="0">
                <a:solidFill>
                  <a:srgbClr val="39FF8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27950" y="1549301"/>
            <a:ext cx="2920901" cy="3174950"/>
          </a:xfrm>
          <a:prstGeom prst="roundRect">
            <a:avLst>
              <a:gd name="adj" fmla="val 304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D8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391376" y="1812727"/>
            <a:ext cx="2461209" cy="183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D8FF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scsa analyze VulnerableVault.sol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D8FF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--rag-mode fallback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D8FF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--out reports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D8FF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finding_id → raw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D8FF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raw → schema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D8FF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schema → chunks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D8FF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chunks → report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D8FF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report → trace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4150" y="6515249"/>
            <a:ext cx="11023699" cy="12650"/>
          </a:xfrm>
          <a:prstGeom prst="rect">
            <a:avLst/>
          </a:prstGeom>
          <a:solidFill>
            <a:srgbClr val="D8D2C3">
              <a:alpha val="2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84150" y="6328172"/>
            <a:ext cx="6736029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850" dirty="0">
                <a:solidFill>
                  <a:srgbClr val="D8D2C3">
                    <a:alpha val="60000"/>
                  </a:srgbClr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Huashu redesign · HTML-native deck · editable PPTX path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50" y="558701"/>
            <a:ext cx="8679129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00" b="1" dirty="0">
                <a:solidFill>
                  <a:srgbClr val="39FF8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POSITIONING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4150" y="733871"/>
            <a:ext cx="8679129" cy="1564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5500" b="1" dirty="0">
                <a:solidFill>
                  <a:srgbClr val="10121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把審計前重複工作變成可驗證 pipeline</a:t>
            </a:r>
            <a:endParaRPr lang="en-US" sz="5500" dirty="0"/>
          </a:p>
        </p:txBody>
      </p:sp>
      <p:sp>
        <p:nvSpPr>
          <p:cNvPr id="4" name="Text 2"/>
          <p:cNvSpPr/>
          <p:nvPr/>
        </p:nvSpPr>
        <p:spPr>
          <a:xfrm>
            <a:off x="584150" y="2450753"/>
            <a:ext cx="7448449" cy="24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5E665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上傳單檔 Solidity 合約，在本機完成漏洞初篩、修復建議、報告輸出與全鏈路回放。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6550" y="3479750"/>
            <a:ext cx="1943100" cy="597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4"/>
              </a:lnSpc>
              <a:buNone/>
            </a:pPr>
            <a:r>
              <a:rPr lang="en-US" sz="4200" b="1" dirty="0">
                <a:solidFill>
                  <a:srgbClr val="39FF8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500 行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6550" y="4140547"/>
            <a:ext cx="1943100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66716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單檔合約上限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29000" y="3479750"/>
            <a:ext cx="1943100" cy="597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4"/>
              </a:lnSpc>
              <a:buNone/>
            </a:pPr>
            <a:r>
              <a:rPr lang="en-US" sz="4200" b="1" dirty="0">
                <a:solidFill>
                  <a:srgbClr val="2CA7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0.11.5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429000" y="4140547"/>
            <a:ext cx="1943100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66716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Slither 串接版本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1301" y="3479750"/>
            <a:ext cx="1943100" cy="119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4"/>
              </a:lnSpc>
              <a:buNone/>
            </a:pPr>
            <a:r>
              <a:rPr lang="en-US" sz="4200" b="1" dirty="0">
                <a:solidFill>
                  <a:srgbClr val="FFB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51.6 MiB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121301" y="4737943"/>
            <a:ext cx="1943100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66716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E2E 記憶體峰值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763000" y="1905000"/>
            <a:ext cx="2667000" cy="3111401"/>
          </a:xfrm>
          <a:prstGeom prst="roundRect">
            <a:avLst>
              <a:gd name="adj" fmla="val 3333"/>
            </a:avLst>
          </a:prstGeom>
          <a:solidFill>
            <a:srgbClr val="0B0D0E">
              <a:alpha val="3000"/>
            </a:srgbClr>
          </a:solidFill>
          <a:ln w="9525">
            <a:solidFill>
              <a:srgbClr val="0B0D0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001125" y="2168426"/>
            <a:ext cx="304800" cy="304800"/>
          </a:xfrm>
          <a:prstGeom prst="roundRect">
            <a:avLst>
              <a:gd name="adj" fmla="val 412500"/>
            </a:avLst>
          </a:prstGeom>
          <a:solidFill>
            <a:srgbClr val="39FF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998077" y="2168426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100" b="1" dirty="0">
                <a:solidFill>
                  <a:srgbClr val="0710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432875" y="2168426"/>
            <a:ext cx="1826514" cy="22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600" b="1" dirty="0">
                <a:solidFill>
                  <a:srgbClr val="10121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確定性判定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32875" y="2446586"/>
            <a:ext cx="1826514" cy="16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5E665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detector finding 先於生成。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001125" y="3032075"/>
            <a:ext cx="304800" cy="304800"/>
          </a:xfrm>
          <a:prstGeom prst="roundRect">
            <a:avLst>
              <a:gd name="adj" fmla="val 412500"/>
            </a:avLst>
          </a:prstGeom>
          <a:solidFill>
            <a:srgbClr val="2CA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998077" y="3032075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100" b="1" dirty="0">
                <a:solidFill>
                  <a:srgbClr val="0710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432875" y="3032075"/>
            <a:ext cx="1826514" cy="22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600" b="1" dirty="0">
                <a:solidFill>
                  <a:srgbClr val="10121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乾淨知識庫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432875" y="3310235"/>
            <a:ext cx="1826514" cy="16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5E665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dirty reports → chunks。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001125" y="3895725"/>
            <a:ext cx="304800" cy="304800"/>
          </a:xfrm>
          <a:prstGeom prst="roundRect">
            <a:avLst>
              <a:gd name="adj" fmla="val 412500"/>
            </a:avLst>
          </a:prstGeom>
          <a:solidFill>
            <a:srgbClr val="FFB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998077" y="3895725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100" b="1" dirty="0">
                <a:solidFill>
                  <a:srgbClr val="0710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432875" y="3895725"/>
            <a:ext cx="1826514" cy="22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600" b="1" dirty="0">
                <a:solidFill>
                  <a:srgbClr val="10121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可追溯輸出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32875" y="4173885"/>
            <a:ext cx="1826514" cy="16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5E665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prompt / raw / report 都能查。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4150" y="6515249"/>
            <a:ext cx="11023699" cy="12650"/>
          </a:xfrm>
          <a:prstGeom prst="rect">
            <a:avLst/>
          </a:prstGeom>
          <a:solidFill>
            <a:srgbClr val="D8D2C3">
              <a:alpha val="2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84150" y="6328172"/>
            <a:ext cx="6736029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850" dirty="0">
                <a:solidFill>
                  <a:srgbClr val="0B0D0E">
                    <a:alpha val="55000"/>
                  </a:srgbClr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local-first · deterministic core · generated explanation is traceable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50" y="2133600"/>
            <a:ext cx="11023550" cy="12650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3784550"/>
            <a:ext cx="11023550" cy="12650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84150" y="5435501"/>
            <a:ext cx="11023550" cy="12650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54301" y="507950"/>
            <a:ext cx="12650" cy="5740301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24600" y="507950"/>
            <a:ext cx="12650" cy="5740301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94750" y="507950"/>
            <a:ext cx="12650" cy="5740301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4150" y="558701"/>
            <a:ext cx="8679129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00" b="1" dirty="0">
                <a:solidFill>
                  <a:srgbClr val="39FF8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SCENARIO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4150" y="733871"/>
            <a:ext cx="8679129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5500" b="1" dirty="0">
                <a:solidFill>
                  <a:srgbClr val="F7F2D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使用者要更快知道先查哪裡</a:t>
            </a:r>
            <a:endParaRPr lang="en-US" sz="5500" dirty="0"/>
          </a:p>
        </p:txBody>
      </p:sp>
      <p:sp>
        <p:nvSpPr>
          <p:cNvPr id="10" name="Text 8"/>
          <p:cNvSpPr/>
          <p:nvPr/>
        </p:nvSpPr>
        <p:spPr>
          <a:xfrm>
            <a:off x="584150" y="1668512"/>
            <a:ext cx="7448449" cy="24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9AA3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工具的價值不是取代審計師，而是把可重複、可驗證、可追蹤的初篩流程固定下來。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9600" y="3238500"/>
            <a:ext cx="2387501" cy="1905000"/>
          </a:xfrm>
          <a:prstGeom prst="roundRect">
            <a:avLst>
              <a:gd name="adj" fmla="val 466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D8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9125" y="3248025"/>
            <a:ext cx="2415820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b="1" dirty="0">
                <a:solidFill>
                  <a:srgbClr val="F7F2D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個人開發者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9125" y="3504009"/>
            <a:ext cx="2415820" cy="73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9AA3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提交前抓 reentrancy、unchecked call 與 delegatecall 風險。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54301" y="3238500"/>
            <a:ext cx="2387501" cy="1905000"/>
          </a:xfrm>
          <a:prstGeom prst="roundRect">
            <a:avLst>
              <a:gd name="adj" fmla="val 466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D8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63826" y="3248025"/>
            <a:ext cx="2415820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b="1" dirty="0">
                <a:solidFill>
                  <a:srgbClr val="F7F2D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Web3 團隊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63826" y="3504009"/>
            <a:ext cx="2415820" cy="490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9AA3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 Slither 結果整理成可交給審計師複查的報告。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99150" y="3238500"/>
            <a:ext cx="2387501" cy="1905000"/>
          </a:xfrm>
          <a:prstGeom prst="roundRect">
            <a:avLst>
              <a:gd name="adj" fmla="val 466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D8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308675" y="3248025"/>
            <a:ext cx="2415820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b="1" dirty="0">
                <a:solidFill>
                  <a:srgbClr val="F7F2D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課程 Demo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8675" y="3504009"/>
            <a:ext cx="2415820" cy="490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9AA3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展示從靜態分析到報告生成的完整安全 pipeline。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0" y="3238500"/>
            <a:ext cx="2387501" cy="1905000"/>
          </a:xfrm>
          <a:prstGeom prst="roundRect">
            <a:avLst>
              <a:gd name="adj" fmla="val 466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D8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153525" y="3248025"/>
            <a:ext cx="2415820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b="1" dirty="0">
                <a:solidFill>
                  <a:srgbClr val="F7F2D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履歷作品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53525" y="3504009"/>
            <a:ext cx="2415820" cy="490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9AA3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呈現 SAST、RAG、MLX、CI 評測與可觀測性能力。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9600" y="2946350"/>
            <a:ext cx="10921901" cy="38100"/>
          </a:xfrm>
          <a:prstGeom prst="rect">
            <a:avLst/>
          </a:prstGeom>
          <a:solidFill>
            <a:srgbClr val="39FF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84150" y="6515249"/>
            <a:ext cx="11023699" cy="12650"/>
          </a:xfrm>
          <a:prstGeom prst="rect">
            <a:avLst/>
          </a:prstGeom>
          <a:solidFill>
            <a:srgbClr val="D8D2C3">
              <a:alpha val="2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84150" y="6328172"/>
            <a:ext cx="6736029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850" dirty="0">
                <a:solidFill>
                  <a:srgbClr val="D8D2C3">
                    <a:alpha val="60000"/>
                  </a:srgbClr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target user: developer / Web3 team / security course / interview portfolio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50" y="558701"/>
            <a:ext cx="8679129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00" b="1" dirty="0">
                <a:solidFill>
                  <a:srgbClr val="39FF8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4150" y="733871"/>
            <a:ext cx="8679129" cy="1564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5500" b="1" dirty="0">
                <a:solidFill>
                  <a:srgbClr val="10121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LLM 只處理解釋，漏洞來源保留在工具輸出</a:t>
            </a:r>
            <a:endParaRPr lang="en-US" sz="5500" dirty="0"/>
          </a:p>
        </p:txBody>
      </p:sp>
      <p:sp>
        <p:nvSpPr>
          <p:cNvPr id="4" name="Text 2"/>
          <p:cNvSpPr/>
          <p:nvPr/>
        </p:nvSpPr>
        <p:spPr>
          <a:xfrm>
            <a:off x="584150" y="2450753"/>
            <a:ext cx="7448449" cy="24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5E665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每一步都落地為可檢查的中間結果，避免模型把不存在的漏洞寫進正式報告。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3708350"/>
            <a:ext cx="9906000" cy="25301"/>
          </a:xfrm>
          <a:prstGeom prst="rect">
            <a:avLst/>
          </a:prstGeom>
          <a:solidFill>
            <a:srgbClr val="1113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8950" y="3174950"/>
            <a:ext cx="304800" cy="304800"/>
          </a:xfrm>
          <a:prstGeom prst="roundRect">
            <a:avLst>
              <a:gd name="adj" fmla="val 412500"/>
            </a:avLst>
          </a:prstGeom>
          <a:solidFill>
            <a:srgbClr val="39FF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5902" y="3174950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100" b="1" dirty="0">
                <a:solidFill>
                  <a:srgbClr val="0710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20701" y="3174950"/>
            <a:ext cx="1269391" cy="22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600" b="1" dirty="0">
                <a:solidFill>
                  <a:srgbClr val="10121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.sol 輸入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0701" y="3453110"/>
            <a:ext cx="1269391" cy="333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5E665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單檔、500 行、0.6.x–0.8.x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667000" y="3174950"/>
            <a:ext cx="304800" cy="304800"/>
          </a:xfrm>
          <a:prstGeom prst="roundRect">
            <a:avLst>
              <a:gd name="adj" fmla="val 412500"/>
            </a:avLst>
          </a:prstGeom>
          <a:solidFill>
            <a:srgbClr val="2CA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63952" y="3174950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100" b="1" dirty="0">
                <a:solidFill>
                  <a:srgbClr val="0710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98750" y="3174950"/>
            <a:ext cx="1269391" cy="22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600" b="1" dirty="0">
                <a:solidFill>
                  <a:srgbClr val="10121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Slither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98750" y="3453110"/>
            <a:ext cx="1269391" cy="333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5E665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detector findings + AST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44901" y="3174950"/>
            <a:ext cx="304800" cy="304800"/>
          </a:xfrm>
          <a:prstGeom prst="roundRect">
            <a:avLst>
              <a:gd name="adj" fmla="val 412500"/>
            </a:avLst>
          </a:prstGeom>
          <a:solidFill>
            <a:srgbClr val="FFB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41853" y="3174950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100" b="1" dirty="0">
                <a:solidFill>
                  <a:srgbClr val="0710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76651" y="3174950"/>
            <a:ext cx="1269391" cy="22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600" b="1" dirty="0">
                <a:solidFill>
                  <a:srgbClr val="10121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Adapter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76651" y="3453110"/>
            <a:ext cx="1269391" cy="16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5E665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FindingSchema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22950" y="3174950"/>
            <a:ext cx="304800" cy="304800"/>
          </a:xfrm>
          <a:prstGeom prst="roundRect">
            <a:avLst>
              <a:gd name="adj" fmla="val 412500"/>
            </a:avLst>
          </a:prstGeom>
          <a:solidFill>
            <a:srgbClr val="39FF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19902" y="3174950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100" b="1" dirty="0">
                <a:solidFill>
                  <a:srgbClr val="0710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54701" y="3174950"/>
            <a:ext cx="1269391" cy="22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600" b="1" dirty="0">
                <a:solidFill>
                  <a:srgbClr val="10121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RAG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54701" y="3453110"/>
            <a:ext cx="1269391" cy="333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5E665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BM25 / Dense / Rerank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001000" y="3174950"/>
            <a:ext cx="304800" cy="304800"/>
          </a:xfrm>
          <a:prstGeom prst="roundRect">
            <a:avLst>
              <a:gd name="adj" fmla="val 412500"/>
            </a:avLst>
          </a:prstGeom>
          <a:solidFill>
            <a:srgbClr val="2CA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997952" y="3174950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100" b="1" dirty="0">
                <a:solidFill>
                  <a:srgbClr val="0710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32750" y="3174950"/>
            <a:ext cx="1269391" cy="22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600" b="1" dirty="0">
                <a:solidFill>
                  <a:srgbClr val="10121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MLX-ready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32750" y="3453110"/>
            <a:ext cx="1269391" cy="16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5E665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逐 finding 生成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778901" y="3174950"/>
            <a:ext cx="304800" cy="304800"/>
          </a:xfrm>
          <a:prstGeom prst="roundRect">
            <a:avLst>
              <a:gd name="adj" fmla="val 412500"/>
            </a:avLst>
          </a:prstGeom>
          <a:solidFill>
            <a:srgbClr val="FFB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775853" y="3174950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100" b="1" dirty="0">
                <a:solidFill>
                  <a:srgbClr val="0710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10651" y="3174950"/>
            <a:ext cx="1269391" cy="22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600" b="1" dirty="0">
                <a:solidFill>
                  <a:srgbClr val="10121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Report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210651" y="3453110"/>
            <a:ext cx="1269391" cy="16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5E665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JSON / MD / SQLite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90600" y="4902101"/>
            <a:ext cx="10210800" cy="660350"/>
          </a:xfrm>
          <a:prstGeom prst="roundRect">
            <a:avLst>
              <a:gd name="adj" fmla="val 13463"/>
            </a:avLst>
          </a:prstGeom>
          <a:solidFill>
            <a:srgbClr val="0B0D0E">
              <a:alpha val="3000"/>
            </a:srgbClr>
          </a:solidFill>
          <a:ln w="9525">
            <a:solidFill>
              <a:srgbClr val="0B0D0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203275" y="5089327"/>
            <a:ext cx="9844989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11131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scsa analyze tests/contracts/VulnerableVault.sol --out-dir reports --rag-mode fallback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84150" y="6515249"/>
            <a:ext cx="11023699" cy="12650"/>
          </a:xfrm>
          <a:prstGeom prst="rect">
            <a:avLst/>
          </a:prstGeom>
          <a:solidFill>
            <a:srgbClr val="D8D2C3">
              <a:alpha val="2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84150" y="6328172"/>
            <a:ext cx="6736029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850" dirty="0">
                <a:solidFill>
                  <a:srgbClr val="0B0D0E">
                    <a:alpha val="55000"/>
                  </a:srgbClr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deterministic finding → retrieval context → constrained generation → traceable report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50" y="2133600"/>
            <a:ext cx="11023550" cy="12650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3784550"/>
            <a:ext cx="11023550" cy="12650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84150" y="5435501"/>
            <a:ext cx="11023550" cy="12650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54301" y="507950"/>
            <a:ext cx="12650" cy="5740301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24600" y="507950"/>
            <a:ext cx="12650" cy="5740301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94750" y="507950"/>
            <a:ext cx="12650" cy="5740301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4150" y="558701"/>
            <a:ext cx="8679129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00" b="1" dirty="0">
                <a:solidFill>
                  <a:srgbClr val="39FF8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4150" y="733871"/>
            <a:ext cx="8679129" cy="1564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5500" b="1" dirty="0">
                <a:solidFill>
                  <a:srgbClr val="F7F2D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CLI-first package，外部工具可替換</a:t>
            </a:r>
            <a:endParaRPr lang="en-US" sz="5500" dirty="0"/>
          </a:p>
        </p:txBody>
      </p:sp>
      <p:sp>
        <p:nvSpPr>
          <p:cNvPr id="10" name="Text 8"/>
          <p:cNvSpPr/>
          <p:nvPr/>
        </p:nvSpPr>
        <p:spPr>
          <a:xfrm>
            <a:off x="584150" y="2450753"/>
            <a:ext cx="7448449" cy="24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9AA3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核心模組圍繞 analyze lifecycle：讀合約、跑工具、正規化、檢索、生成、驗證、追蹤。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667000"/>
            <a:ext cx="3619500" cy="3200400"/>
          </a:xfrm>
          <a:prstGeom prst="roundRect">
            <a:avLst>
              <a:gd name="adj" fmla="val 277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D8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23925" y="2905125"/>
            <a:ext cx="3173629" cy="165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D8FF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src/smart_contract_audit/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D8FF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cli.py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D8FF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analyzer.py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D8FF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slither_runner.py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D8FF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finding_adapter.py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D8FF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rag/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D8FF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llm/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D8FF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validation/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D8FF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└─ trace/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78301" y="2667000"/>
            <a:ext cx="2984450" cy="1333500"/>
          </a:xfrm>
          <a:prstGeom prst="roundRect">
            <a:avLst>
              <a:gd name="adj" fmla="val 666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D8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87826" y="2676525"/>
            <a:ext cx="3024708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b="1" dirty="0">
                <a:solidFill>
                  <a:srgbClr val="F7F2D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slither_runner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87826" y="2932509"/>
            <a:ext cx="3024708" cy="490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9AA3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準備 solc、呼叫 Slither、解析 JSON。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82000" y="2667000"/>
            <a:ext cx="2984450" cy="1333500"/>
          </a:xfrm>
          <a:prstGeom prst="roundRect">
            <a:avLst>
              <a:gd name="adj" fmla="val 666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D8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391525" y="2676525"/>
            <a:ext cx="3024708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b="1" dirty="0">
                <a:solidFill>
                  <a:srgbClr val="F7F2D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finding_adapter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91525" y="2932509"/>
            <a:ext cx="3024708" cy="490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9AA3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detector → vulnerability_type / severity。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78301" y="4470350"/>
            <a:ext cx="2984450" cy="1333500"/>
          </a:xfrm>
          <a:prstGeom prst="roundRect">
            <a:avLst>
              <a:gd name="adj" fmla="val 666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D8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87826" y="4479875"/>
            <a:ext cx="3024708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b="1" dirty="0">
                <a:solidFill>
                  <a:srgbClr val="F7F2D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rag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87826" y="4735860"/>
            <a:ext cx="3024708" cy="490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9AA3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文件萃取、chunk、JSONL、BM25 fallback。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82000" y="4470350"/>
            <a:ext cx="2984450" cy="1333500"/>
          </a:xfrm>
          <a:prstGeom prst="roundRect">
            <a:avLst>
              <a:gd name="adj" fmla="val 666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D8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391525" y="4479875"/>
            <a:ext cx="3024708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b="1" dirty="0">
                <a:solidFill>
                  <a:srgbClr val="F7F2D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trace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91525" y="4735860"/>
            <a:ext cx="3024708" cy="490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9AA3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analysis_trace 與 trace_findings 可查。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84150" y="6515249"/>
            <a:ext cx="11023699" cy="12650"/>
          </a:xfrm>
          <a:prstGeom prst="rect">
            <a:avLst/>
          </a:prstGeom>
          <a:solidFill>
            <a:srgbClr val="D8D2C3">
              <a:alpha val="2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84150" y="6328172"/>
            <a:ext cx="6736029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850" dirty="0">
                <a:solidFill>
                  <a:srgbClr val="D8D2C3">
                    <a:alpha val="60000"/>
                  </a:srgbClr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module boundary follows audit lifecycle, not UI pages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50" y="558701"/>
            <a:ext cx="8679129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00" b="1" dirty="0">
                <a:solidFill>
                  <a:srgbClr val="39FF8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STATIC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4150" y="733871"/>
            <a:ext cx="8679129" cy="1564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5500" b="1" dirty="0">
                <a:solidFill>
                  <a:srgbClr val="10121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Slither finding 是正式報告的根</a:t>
            </a:r>
            <a:endParaRPr lang="en-US" sz="5500" dirty="0"/>
          </a:p>
        </p:txBody>
      </p:sp>
      <p:sp>
        <p:nvSpPr>
          <p:cNvPr id="4" name="Text 2"/>
          <p:cNvSpPr/>
          <p:nvPr/>
        </p:nvSpPr>
        <p:spPr>
          <a:xfrm>
            <a:off x="584150" y="2450753"/>
            <a:ext cx="7448449" cy="24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5E665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未映射 detector 只進 trace，不進正式 finding；模型負責說明與修復建議。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750" y="2514600"/>
            <a:ext cx="4792929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10121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Detector mapping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12750" y="3205163"/>
            <a:ext cx="4953000" cy="0"/>
          </a:xfrm>
          <a:prstGeom prst="line">
            <a:avLst/>
          </a:prstGeom>
          <a:noFill/>
          <a:ln w="9525">
            <a:solidFill>
              <a:srgbClr val="0B0D0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750" y="3311426"/>
            <a:ext cx="1208365" cy="18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6"/>
              </a:lnSpc>
              <a:buNone/>
            </a:pPr>
            <a:r>
              <a:rPr lang="en-US" sz="1300" b="1" dirty="0">
                <a:solidFill>
                  <a:srgbClr val="10121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reentrancy-eth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25701" y="3311426"/>
            <a:ext cx="3238449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5E665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reentrancy / High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12750" y="3865513"/>
            <a:ext cx="4953000" cy="0"/>
          </a:xfrm>
          <a:prstGeom prst="line">
            <a:avLst/>
          </a:prstGeom>
          <a:noFill/>
          <a:ln w="9525">
            <a:solidFill>
              <a:srgbClr val="0B0D0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750" y="3971776"/>
            <a:ext cx="1605486" cy="18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6"/>
              </a:lnSpc>
              <a:buNone/>
            </a:pPr>
            <a:r>
              <a:rPr lang="en-US" sz="1300" b="1" dirty="0">
                <a:solidFill>
                  <a:srgbClr val="10121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unchecked-lowlevel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25701" y="3971776"/>
            <a:ext cx="3238449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5E665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unchecked_external_call / Medium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2750" y="4525863"/>
            <a:ext cx="4953000" cy="0"/>
          </a:xfrm>
          <a:prstGeom prst="line">
            <a:avLst/>
          </a:prstGeom>
          <a:noFill/>
          <a:ln w="9525">
            <a:solidFill>
              <a:srgbClr val="0B0D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750" y="4632127"/>
            <a:ext cx="1867957" cy="18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6"/>
              </a:lnSpc>
              <a:buNone/>
            </a:pPr>
            <a:r>
              <a:rPr lang="en-US" sz="1300" b="1" dirty="0">
                <a:solidFill>
                  <a:srgbClr val="10121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controlled-delegatecall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25701" y="4632127"/>
            <a:ext cx="3238449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5E665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dangerous_delegatecall / High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2750" y="5186363"/>
            <a:ext cx="4953000" cy="0"/>
          </a:xfrm>
          <a:prstGeom prst="line">
            <a:avLst/>
          </a:prstGeom>
          <a:noFill/>
          <a:ln w="9525">
            <a:solidFill>
              <a:srgbClr val="0B0D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2750" y="5292626"/>
            <a:ext cx="1906970" cy="18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6"/>
              </a:lnSpc>
              <a:buNone/>
            </a:pPr>
            <a:r>
              <a:rPr lang="en-US" sz="1300" b="1" dirty="0">
                <a:solidFill>
                  <a:srgbClr val="10121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controlled-array-length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25701" y="5292626"/>
            <a:ext cx="3238449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5E665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array_length_manipulation / Medium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239000" y="2603450"/>
            <a:ext cx="3682901" cy="2857500"/>
          </a:xfrm>
          <a:prstGeom prst="roundRect">
            <a:avLst>
              <a:gd name="adj" fmla="val 3111"/>
            </a:avLst>
          </a:prstGeom>
          <a:solidFill>
            <a:srgbClr val="0B0D0E">
              <a:alpha val="3000"/>
            </a:srgbClr>
          </a:solidFill>
          <a:ln w="9525">
            <a:solidFill>
              <a:srgbClr val="0B0D0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77125" y="2841575"/>
            <a:ext cx="3238449" cy="183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11131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finding_id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11131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vulnerability_type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11131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severity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11131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location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11131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evidence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11131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finding_confidence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11131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explanation_confidence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11131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static_tool_source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11131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detector_name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11131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partial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4150" y="6515249"/>
            <a:ext cx="11023699" cy="12650"/>
          </a:xfrm>
          <a:prstGeom prst="rect">
            <a:avLst/>
          </a:prstGeom>
          <a:solidFill>
            <a:srgbClr val="D8D2C3">
              <a:alpha val="2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84150" y="6328172"/>
            <a:ext cx="6736029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850" dirty="0">
                <a:solidFill>
                  <a:srgbClr val="0B0D0E">
                    <a:alpha val="55000"/>
                  </a:srgbClr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finding_confidence comes from static source, explanation_confidence comes from generation quality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50" y="2133600"/>
            <a:ext cx="11023550" cy="12650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3784550"/>
            <a:ext cx="11023550" cy="12650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84150" y="5435501"/>
            <a:ext cx="11023550" cy="12650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54301" y="507950"/>
            <a:ext cx="12650" cy="5740301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24600" y="507950"/>
            <a:ext cx="12650" cy="5740301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94750" y="507950"/>
            <a:ext cx="12650" cy="5740301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4150" y="558701"/>
            <a:ext cx="8679129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00" b="1" dirty="0">
                <a:solidFill>
                  <a:srgbClr val="39FF8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UNSTRUCTURED DATA + RAG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4150" y="733871"/>
            <a:ext cx="8679129" cy="1564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5500" b="1" dirty="0">
                <a:solidFill>
                  <a:srgbClr val="F7F2D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公開審計報告要先拆成乾淨 chunks</a:t>
            </a:r>
            <a:endParaRPr lang="en-US" sz="5500" dirty="0"/>
          </a:p>
        </p:txBody>
      </p:sp>
      <p:sp>
        <p:nvSpPr>
          <p:cNvPr id="10" name="Text 8"/>
          <p:cNvSpPr/>
          <p:nvPr/>
        </p:nvSpPr>
        <p:spPr>
          <a:xfrm>
            <a:off x="584150" y="2450753"/>
            <a:ext cx="7448449" cy="490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9AA3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PDF、HTML、Markdown、表格與 Solidity 程式碼混在一起；流程先分離純文字與程式碼，再寫 metadata。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920901"/>
            <a:ext cx="304800" cy="304800"/>
          </a:xfrm>
          <a:prstGeom prst="roundRect">
            <a:avLst>
              <a:gd name="adj" fmla="val 412500"/>
            </a:avLst>
          </a:prstGeom>
          <a:solidFill>
            <a:srgbClr val="39FF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11352" y="2920901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100" b="1" dirty="0">
                <a:solidFill>
                  <a:srgbClr val="0710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46150" y="2920901"/>
            <a:ext cx="2279803" cy="22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600" b="1" dirty="0">
                <a:solidFill>
                  <a:srgbClr val="F7F2D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格式偵測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46150" y="3199061"/>
            <a:ext cx="2279803" cy="16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9AA3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PDF / HTML / Markdown 分流。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" y="3886200"/>
            <a:ext cx="304800" cy="304800"/>
          </a:xfrm>
          <a:prstGeom prst="roundRect">
            <a:avLst>
              <a:gd name="adj" fmla="val 412500"/>
            </a:avLst>
          </a:prstGeom>
          <a:solidFill>
            <a:srgbClr val="2CA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1352" y="3886200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100" b="1" dirty="0">
                <a:solidFill>
                  <a:srgbClr val="0710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46150" y="3886200"/>
            <a:ext cx="2279803" cy="22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600" b="1" dirty="0">
                <a:solidFill>
                  <a:srgbClr val="F7F2D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程式碼保留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46150" y="4164360"/>
            <a:ext cx="2279803" cy="16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9AA3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Solidity code block 不在中間切斷。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400" y="4851350"/>
            <a:ext cx="304800" cy="304800"/>
          </a:xfrm>
          <a:prstGeom prst="roundRect">
            <a:avLst>
              <a:gd name="adj" fmla="val 412500"/>
            </a:avLst>
          </a:prstGeom>
          <a:solidFill>
            <a:srgbClr val="FFB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11352" y="4851350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100" b="1" dirty="0">
                <a:solidFill>
                  <a:srgbClr val="0710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46150" y="4851350"/>
            <a:ext cx="2279803" cy="22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600" b="1" dirty="0">
                <a:solidFill>
                  <a:srgbClr val="F7F2D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Metadata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46150" y="5129510"/>
            <a:ext cx="2279803" cy="333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9AA3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source_id、severity、vuln_type、sha256。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68901" y="2768501"/>
            <a:ext cx="4953000" cy="2412950"/>
          </a:xfrm>
          <a:prstGeom prst="roundRect">
            <a:avLst>
              <a:gd name="adj" fmla="val 368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D8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978426" y="2778026"/>
            <a:ext cx="5032629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F7F2D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RAG modes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6232327" y="3595539"/>
            <a:ext cx="4317950" cy="0"/>
          </a:xfrm>
          <a:prstGeom prst="line">
            <a:avLst/>
          </a:prstGeom>
          <a:noFill/>
          <a:ln w="9525">
            <a:solidFill>
              <a:srgbClr val="D8D2C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2327" y="3701802"/>
            <a:ext cx="534353" cy="18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6"/>
              </a:lnSpc>
              <a:buNone/>
            </a:pPr>
            <a:r>
              <a:rPr lang="en-US" sz="1300" b="1" dirty="0">
                <a:solidFill>
                  <a:srgbClr val="F7F2D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quality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45277" y="3701802"/>
            <a:ext cx="3238449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9AA3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BM25 50 + Dense 50 → top 5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32327" y="4078188"/>
            <a:ext cx="4317950" cy="0"/>
          </a:xfrm>
          <a:prstGeom prst="line">
            <a:avLst/>
          </a:prstGeom>
          <a:noFill/>
          <a:ln w="9525">
            <a:solidFill>
              <a:srgbClr val="D8D2C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2327" y="4184452"/>
            <a:ext cx="725930" cy="18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6"/>
              </a:lnSpc>
              <a:buNone/>
            </a:pPr>
            <a:r>
              <a:rPr lang="en-US" sz="1300" b="1" dirty="0">
                <a:solidFill>
                  <a:srgbClr val="F7F2D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balanced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45277" y="4184452"/>
            <a:ext cx="3238449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9AA3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BM25 30 + Dense 30 → top 3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32327" y="4560689"/>
            <a:ext cx="4317950" cy="0"/>
          </a:xfrm>
          <a:prstGeom prst="line">
            <a:avLst/>
          </a:prstGeom>
          <a:noFill/>
          <a:ln w="9525">
            <a:solidFill>
              <a:srgbClr val="D8D2C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2327" y="4666952"/>
            <a:ext cx="630748" cy="18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6"/>
              </a:lnSpc>
              <a:buNone/>
            </a:pPr>
            <a:r>
              <a:rPr lang="en-US" sz="1300" b="1" dirty="0">
                <a:solidFill>
                  <a:srgbClr val="F7F2D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fallback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645277" y="4666952"/>
            <a:ext cx="3238449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9AA3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BM25 20 only → top 3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991600" y="5435501"/>
            <a:ext cx="1943100" cy="597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4"/>
              </a:lnSpc>
              <a:buNone/>
            </a:pPr>
            <a:r>
              <a:rPr lang="en-US" sz="4200" b="1" dirty="0">
                <a:solidFill>
                  <a:srgbClr val="39FF8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1.0</a:t>
            </a:r>
            <a:endParaRPr lang="en-US" sz="4200" dirty="0"/>
          </a:p>
        </p:txBody>
      </p:sp>
      <p:sp>
        <p:nvSpPr>
          <p:cNvPr id="35" name="Text 33"/>
          <p:cNvSpPr/>
          <p:nvPr/>
        </p:nvSpPr>
        <p:spPr>
          <a:xfrm>
            <a:off x="8991600" y="6096298"/>
            <a:ext cx="1943100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9AA3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fixture recall@k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4150" y="6515249"/>
            <a:ext cx="11023699" cy="12650"/>
          </a:xfrm>
          <a:prstGeom prst="rect">
            <a:avLst/>
          </a:prstGeom>
          <a:solidFill>
            <a:srgbClr val="D8D2C3">
              <a:alpha val="2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84150" y="6328172"/>
            <a:ext cx="6736029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850" dirty="0">
                <a:solidFill>
                  <a:srgbClr val="D8D2C3">
                    <a:alpha val="60000"/>
                  </a:srgbClr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data cleaning reduces retrieval noise before prompt packing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50" y="558701"/>
            <a:ext cx="8679129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00" b="1" dirty="0">
                <a:solidFill>
                  <a:srgbClr val="39FF8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LOCAL INFERENCE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4150" y="733871"/>
            <a:ext cx="8679129" cy="1564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5500" b="1" dirty="0">
                <a:solidFill>
                  <a:srgbClr val="10121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16GB 環境下先控制上下文，再控制模型</a:t>
            </a:r>
            <a:endParaRPr lang="en-US" sz="5500" dirty="0"/>
          </a:p>
        </p:txBody>
      </p:sp>
      <p:sp>
        <p:nvSpPr>
          <p:cNvPr id="4" name="Text 2"/>
          <p:cNvSpPr/>
          <p:nvPr/>
        </p:nvSpPr>
        <p:spPr>
          <a:xfrm>
            <a:off x="584150" y="2450753"/>
            <a:ext cx="7448449" cy="490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5E665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逐 finding 生成、4-bit 權重量化、固定輸出上限與 timeout 降級，讓本地小模型不拖垮完整流程。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750" y="3048000"/>
            <a:ext cx="1943100" cy="597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4"/>
              </a:lnSpc>
              <a:buNone/>
            </a:pPr>
            <a:r>
              <a:rPr lang="en-US" sz="4200" b="1" dirty="0">
                <a:solidFill>
                  <a:srgbClr val="39FF8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4.0 GB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12750" y="3708797"/>
            <a:ext cx="1943100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66716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8B 4-bit 權重估算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12750" y="4381500"/>
            <a:ext cx="1943100" cy="119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4"/>
              </a:lnSpc>
              <a:buNone/>
            </a:pPr>
            <a:r>
              <a:rPr lang="en-US" sz="4200" b="1" dirty="0">
                <a:solidFill>
                  <a:srgbClr val="2CA7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1024 tokens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12750" y="5639693"/>
            <a:ext cx="1943100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66716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 finding 輸出上限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68901" y="2667000"/>
            <a:ext cx="4698950" cy="3048000"/>
          </a:xfrm>
          <a:prstGeom prst="roundRect">
            <a:avLst>
              <a:gd name="adj" fmla="val 2917"/>
            </a:avLst>
          </a:prstGeom>
          <a:solidFill>
            <a:srgbClr val="0B0D0E">
              <a:alpha val="3000"/>
            </a:srgbClr>
          </a:solidFill>
          <a:ln w="9525">
            <a:solidFill>
              <a:srgbClr val="0B0D0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32327" y="2955875"/>
            <a:ext cx="304800" cy="304800"/>
          </a:xfrm>
          <a:prstGeom prst="roundRect">
            <a:avLst>
              <a:gd name="adj" fmla="val 412500"/>
            </a:avLst>
          </a:prstGeom>
          <a:solidFill>
            <a:srgbClr val="39FF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29279" y="2955875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100" b="1" dirty="0">
                <a:solidFill>
                  <a:srgbClr val="0710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80s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64077" y="2955875"/>
            <a:ext cx="3445663" cy="22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600" b="1" dirty="0">
                <a:solidFill>
                  <a:srgbClr val="10121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fast mode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64077" y="3234035"/>
            <a:ext cx="3445663" cy="16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5E665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後續 finding 強制 fast mode。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32327" y="3794075"/>
            <a:ext cx="304800" cy="304800"/>
          </a:xfrm>
          <a:prstGeom prst="roundRect">
            <a:avLst>
              <a:gd name="adj" fmla="val 412500"/>
            </a:avLst>
          </a:prstGeom>
          <a:solidFill>
            <a:srgbClr val="2CA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29279" y="3794075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100" b="1" dirty="0">
                <a:solidFill>
                  <a:srgbClr val="0710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100s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64077" y="3794075"/>
            <a:ext cx="3445663" cy="22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600" b="1" dirty="0">
                <a:solidFill>
                  <a:srgbClr val="10121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fallback mode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64077" y="4072235"/>
            <a:ext cx="3445663" cy="16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5E665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後續 finding 強制 fallback mode。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32327" y="4632275"/>
            <a:ext cx="304800" cy="304800"/>
          </a:xfrm>
          <a:prstGeom prst="roundRect">
            <a:avLst>
              <a:gd name="adj" fmla="val 412500"/>
            </a:avLst>
          </a:prstGeom>
          <a:solidFill>
            <a:srgbClr val="FF4D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29279" y="4632275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100" b="1" dirty="0">
                <a:solidFill>
                  <a:srgbClr val="0710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115s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64077" y="4632275"/>
            <a:ext cx="3445663" cy="22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600" b="1" dirty="0">
                <a:solidFill>
                  <a:srgbClr val="10121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stop generation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64077" y="4910435"/>
            <a:ext cx="3445663" cy="16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5E665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停止 LLM，保留 deterministic findings。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4150" y="6515249"/>
            <a:ext cx="11023699" cy="12650"/>
          </a:xfrm>
          <a:prstGeom prst="rect">
            <a:avLst/>
          </a:prstGeom>
          <a:solidFill>
            <a:srgbClr val="D8D2C3">
              <a:alpha val="2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84150" y="6328172"/>
            <a:ext cx="6736029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850" dirty="0">
                <a:solidFill>
                  <a:srgbClr val="0B0D0E">
                    <a:alpha val="55000"/>
                  </a:srgbClr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resource control: per-finding batching · context cap · timeout fallback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50" y="2133600"/>
            <a:ext cx="11023550" cy="12650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3784550"/>
            <a:ext cx="11023550" cy="12650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84150" y="5435501"/>
            <a:ext cx="11023550" cy="12650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54301" y="507950"/>
            <a:ext cx="12650" cy="5740301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24600" y="507950"/>
            <a:ext cx="12650" cy="5740301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94750" y="507950"/>
            <a:ext cx="12650" cy="5740301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4150" y="558701"/>
            <a:ext cx="8679129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00" b="1" dirty="0">
                <a:solidFill>
                  <a:srgbClr val="39FF8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4150" y="733871"/>
            <a:ext cx="8679129" cy="1564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5500" b="1" dirty="0">
                <a:solidFill>
                  <a:srgbClr val="F7F2D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可回放是資安輔助工具的信任基礎</a:t>
            </a:r>
            <a:endParaRPr lang="en-US" sz="5500" dirty="0"/>
          </a:p>
        </p:txBody>
      </p:sp>
      <p:sp>
        <p:nvSpPr>
          <p:cNvPr id="10" name="Text 8"/>
          <p:cNvSpPr/>
          <p:nvPr/>
        </p:nvSpPr>
        <p:spPr>
          <a:xfrm>
            <a:off x="584150" y="2450753"/>
            <a:ext cx="7448449" cy="490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9AA3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報告不是黑箱文字；每個 finding 都能查到 Slither 原始資料、RAG chunks、prompt 與最終欄位。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946350"/>
            <a:ext cx="4000500" cy="2412950"/>
          </a:xfrm>
          <a:prstGeom prst="roundRect">
            <a:avLst>
              <a:gd name="adj" fmla="val 368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D8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203275" y="3235226"/>
            <a:ext cx="3497580" cy="1287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D8FF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finding_id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D8FF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→ slither_raw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D8FF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→ normalized_schema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D8FF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→ rag_chunk_ids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D8FF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→ packed_prompt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D8FF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→ llm_raw_output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D8FF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→ final_report_field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0" y="2667000"/>
            <a:ext cx="3936950" cy="812750"/>
          </a:xfrm>
          <a:prstGeom prst="roundRect">
            <a:avLst>
              <a:gd name="adj" fmla="val 1093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D8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867525" y="2676525"/>
            <a:ext cx="3996258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b="1" dirty="0">
                <a:solidFill>
                  <a:srgbClr val="F7F2D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analysis_trace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67525" y="2932509"/>
            <a:ext cx="3996258" cy="490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9AA3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contract_id、model_version、dataset_version、final_status。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0" y="3835301"/>
            <a:ext cx="3936950" cy="812750"/>
          </a:xfrm>
          <a:prstGeom prst="roundRect">
            <a:avLst>
              <a:gd name="adj" fmla="val 1093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D8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67525" y="3844826"/>
            <a:ext cx="3996258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b="1" dirty="0">
                <a:solidFill>
                  <a:srgbClr val="F7F2D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trace_findings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67525" y="4100810"/>
            <a:ext cx="3996258" cy="24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9AA3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per-finding rag_mode、耗時、chunks_used。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5003750"/>
            <a:ext cx="3936950" cy="812750"/>
          </a:xfrm>
          <a:prstGeom prst="roundRect">
            <a:avLst>
              <a:gd name="adj" fmla="val 1093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D8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67525" y="5013275"/>
            <a:ext cx="3996258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b="1" dirty="0">
                <a:solidFill>
                  <a:srgbClr val="F7F2D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trace_lookup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67525" y="5269260"/>
            <a:ext cx="3996258" cy="24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9AA3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CLI 查詢，支援定位單一 finding。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4150" y="6515249"/>
            <a:ext cx="11023699" cy="12650"/>
          </a:xfrm>
          <a:prstGeom prst="rect">
            <a:avLst/>
          </a:prstGeom>
          <a:solidFill>
            <a:srgbClr val="D8D2C3">
              <a:alpha val="2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84150" y="6328172"/>
            <a:ext cx="6736029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850" dirty="0">
                <a:solidFill>
                  <a:srgbClr val="D8D2C3">
                    <a:alpha val="60000"/>
                  </a:srgbClr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trace table stores evidence chain instead of only storing final answer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50" y="558701"/>
            <a:ext cx="8679129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00" b="1" dirty="0">
                <a:solidFill>
                  <a:srgbClr val="39FF8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REAL CASE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4150" y="733871"/>
            <a:ext cx="8679129" cy="1564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5500" b="1" dirty="0">
                <a:solidFill>
                  <a:srgbClr val="10121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外部 call 發生在餘額歸零之前</a:t>
            </a:r>
            <a:endParaRPr lang="en-US" sz="5500" dirty="0"/>
          </a:p>
        </p:txBody>
      </p:sp>
      <p:sp>
        <p:nvSpPr>
          <p:cNvPr id="4" name="Text 2"/>
          <p:cNvSpPr/>
          <p:nvPr/>
        </p:nvSpPr>
        <p:spPr>
          <a:xfrm>
            <a:off x="584150" y="2450753"/>
            <a:ext cx="7448449" cy="24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5E665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Slither 在測試合約中找到 reentrancy-eth，adapter 映射成 High severity finding。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62000" y="2603450"/>
            <a:ext cx="5334000" cy="3174950"/>
          </a:xfrm>
          <a:prstGeom prst="roundRect">
            <a:avLst>
              <a:gd name="adj" fmla="val 2800"/>
            </a:avLst>
          </a:prstGeom>
          <a:solidFill>
            <a:srgbClr val="0B0D0E">
              <a:alpha val="3000"/>
            </a:srgbClr>
          </a:solidFill>
          <a:ln w="9525">
            <a:solidFill>
              <a:srgbClr val="0B0D0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00125" y="2841575"/>
            <a:ext cx="4857750" cy="1103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11131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function withdraw() external {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11131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uint256 amount = balances[msg.sender];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11131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(bool success,) = msg.sender.call{value: amount}("");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11131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require(success, "transfer failed");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11131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balances[msg.sender] = 0;</a:t>
            </a:r>
            <a:endParaRPr lang="en-US" sz="1050" dirty="0"/>
          </a:p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11131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0" y="2743200"/>
            <a:ext cx="4063901" cy="685800"/>
          </a:xfrm>
          <a:prstGeom prst="roundRect">
            <a:avLst>
              <a:gd name="adj" fmla="val 12963"/>
            </a:avLst>
          </a:prstGeom>
          <a:solidFill>
            <a:srgbClr val="0B0D0E">
              <a:alpha val="3000"/>
            </a:srgbClr>
          </a:solidFill>
          <a:ln w="9525">
            <a:solidFill>
              <a:srgbClr val="0B0D0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67525" y="2752725"/>
            <a:ext cx="4125748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b="1" dirty="0">
                <a:solidFill>
                  <a:srgbClr val="10121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偵測器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67525" y="3008709"/>
            <a:ext cx="4125748" cy="24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5E665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reentrancy-eth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3657600"/>
            <a:ext cx="4063901" cy="685800"/>
          </a:xfrm>
          <a:prstGeom prst="roundRect">
            <a:avLst>
              <a:gd name="adj" fmla="val 12963"/>
            </a:avLst>
          </a:prstGeom>
          <a:solidFill>
            <a:srgbClr val="0B0D0E">
              <a:alpha val="3000"/>
            </a:srgbClr>
          </a:solidFill>
          <a:ln w="9525">
            <a:solidFill>
              <a:srgbClr val="0B0D0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67525" y="3667125"/>
            <a:ext cx="4125748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b="1" dirty="0">
                <a:solidFill>
                  <a:srgbClr val="10121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位置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67525" y="3923109"/>
            <a:ext cx="4125748" cy="24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5E665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tests/contracts/VulnerableVault.sol:11-16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0" y="4572000"/>
            <a:ext cx="4063901" cy="685800"/>
          </a:xfrm>
          <a:prstGeom prst="roundRect">
            <a:avLst>
              <a:gd name="adj" fmla="val 12963"/>
            </a:avLst>
          </a:prstGeom>
          <a:solidFill>
            <a:srgbClr val="0B0D0E">
              <a:alpha val="3000"/>
            </a:srgbClr>
          </a:solidFill>
          <a:ln w="9525">
            <a:solidFill>
              <a:srgbClr val="0B0D0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867525" y="4581525"/>
            <a:ext cx="4125748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b="1" dirty="0">
                <a:solidFill>
                  <a:srgbClr val="10121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修復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67525" y="4837509"/>
            <a:ext cx="4125748" cy="24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5E665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checks-effects-interactions + nonReentrant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4150" y="6515249"/>
            <a:ext cx="11023699" cy="12650"/>
          </a:xfrm>
          <a:prstGeom prst="rect">
            <a:avLst/>
          </a:prstGeom>
          <a:solidFill>
            <a:srgbClr val="D8D2C3">
              <a:alpha val="2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84150" y="6328172"/>
            <a:ext cx="6736029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850" dirty="0">
                <a:solidFill>
                  <a:srgbClr val="0B0D0E">
                    <a:alpha val="55000"/>
                  </a:srgbClr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case finding: external interaction precedes state update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50" y="2133600"/>
            <a:ext cx="11023550" cy="12650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3784550"/>
            <a:ext cx="11023550" cy="12650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84150" y="5435501"/>
            <a:ext cx="11023550" cy="12650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54301" y="507950"/>
            <a:ext cx="12650" cy="5740301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24600" y="507950"/>
            <a:ext cx="12650" cy="5740301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94750" y="507950"/>
            <a:ext cx="12650" cy="5740301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4150" y="558701"/>
            <a:ext cx="8679129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00" b="1" dirty="0">
                <a:solidFill>
                  <a:srgbClr val="39FF8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4150" y="733871"/>
            <a:ext cx="8679129" cy="1564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5500" b="1" dirty="0">
                <a:solidFill>
                  <a:srgbClr val="F7F2D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不是設計稿假資料，是本專案實測輸出</a:t>
            </a:r>
            <a:endParaRPr lang="en-US" sz="5500" dirty="0"/>
          </a:p>
        </p:txBody>
      </p:sp>
      <p:sp>
        <p:nvSpPr>
          <p:cNvPr id="10" name="Text 8"/>
          <p:cNvSpPr/>
          <p:nvPr/>
        </p:nvSpPr>
        <p:spPr>
          <a:xfrm>
            <a:off x="584150" y="2450753"/>
            <a:ext cx="7448449" cy="24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9AA3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測試集中在基礎模組、RAG 檢索、AI judge、自動化端到端流程與硬體資源控制。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048000"/>
            <a:ext cx="1943100" cy="119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4"/>
              </a:lnSpc>
              <a:buNone/>
            </a:pPr>
            <a:r>
              <a:rPr lang="en-US" sz="4200" b="1" dirty="0">
                <a:solidFill>
                  <a:srgbClr val="39FF8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10 passed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914400" y="4306193"/>
            <a:ext cx="1943100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9AA3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pytest 全量回歸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82901" y="3048000"/>
            <a:ext cx="1943100" cy="119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4"/>
              </a:lnSpc>
              <a:buNone/>
            </a:pPr>
            <a:r>
              <a:rPr lang="en-US" sz="4200" b="1" dirty="0">
                <a:solidFill>
                  <a:srgbClr val="2CA7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All passed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3682901" y="4306193"/>
            <a:ext cx="1943100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9AA3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ruff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56350" y="3048000"/>
            <a:ext cx="1943100" cy="597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4"/>
              </a:lnSpc>
              <a:buNone/>
            </a:pPr>
            <a:r>
              <a:rPr lang="en-US" sz="4200" b="1" dirty="0">
                <a:solidFill>
                  <a:srgbClr val="FFB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1.0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756350" y="3708797"/>
            <a:ext cx="1943100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9AA3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RAG recall@k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397901" y="3048000"/>
            <a:ext cx="1943100" cy="597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4"/>
              </a:lnSpc>
              <a:buNone/>
            </a:pPr>
            <a:r>
              <a:rPr lang="en-US" sz="4200" b="1" dirty="0">
                <a:solidFill>
                  <a:srgbClr val="FF4D4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5.0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9397901" y="3708797"/>
            <a:ext cx="1943100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9AA3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Judge score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8950" y="5143500"/>
            <a:ext cx="10413950" cy="634901"/>
          </a:xfrm>
          <a:prstGeom prst="roundRect">
            <a:avLst>
              <a:gd name="adj" fmla="val 1400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D8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27075" y="5343525"/>
            <a:ext cx="10104120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D8FF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E2E: 2 passed · 1.67s · maximum resident set size = 54,083,584 bytes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4150" y="6515249"/>
            <a:ext cx="11023699" cy="12650"/>
          </a:xfrm>
          <a:prstGeom prst="rect">
            <a:avLst/>
          </a:prstGeom>
          <a:solidFill>
            <a:srgbClr val="D8D2C3">
              <a:alpha val="2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84150" y="6328172"/>
            <a:ext cx="6736029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850" dirty="0">
                <a:solidFill>
                  <a:srgbClr val="D8D2C3">
                    <a:alpha val="60000"/>
                  </a:srgbClr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test commands: uv run pytest · uv run ruff check . · eval/run_eval.py · eval/run_judge.py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50" y="558701"/>
            <a:ext cx="8679129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00" b="1" dirty="0">
                <a:solidFill>
                  <a:srgbClr val="39FF8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4150" y="733871"/>
            <a:ext cx="8679129" cy="1564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5500" b="1" dirty="0">
                <a:solidFill>
                  <a:srgbClr val="10121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這是一條完整可交付的安全分析工程管線</a:t>
            </a:r>
            <a:endParaRPr lang="en-US" sz="5500" dirty="0"/>
          </a:p>
        </p:txBody>
      </p:sp>
      <p:sp>
        <p:nvSpPr>
          <p:cNvPr id="4" name="Text 2"/>
          <p:cNvSpPr/>
          <p:nvPr/>
        </p:nvSpPr>
        <p:spPr>
          <a:xfrm>
            <a:off x="584150" y="2450753"/>
            <a:ext cx="7448449" cy="24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5E665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從資安工具、資料工程、AI 工程到 CI 評測，作品展示的是工程化整合能力。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750" y="2667000"/>
            <a:ext cx="3174950" cy="888950"/>
          </a:xfrm>
          <a:prstGeom prst="roundRect">
            <a:avLst>
              <a:gd name="adj" fmla="val 10001"/>
            </a:avLst>
          </a:prstGeom>
          <a:solidFill>
            <a:srgbClr val="0B0D0E">
              <a:alpha val="3000"/>
            </a:srgbClr>
          </a:solidFill>
          <a:ln w="9525">
            <a:solidFill>
              <a:srgbClr val="0B0D0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275" y="2676525"/>
            <a:ext cx="3219018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b="1" dirty="0">
                <a:solidFill>
                  <a:srgbClr val="10121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Security tooling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275" y="2932509"/>
            <a:ext cx="3219018" cy="490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5E665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Slither / solc / detector mapping / SWC。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95800" y="2667000"/>
            <a:ext cx="3174950" cy="888950"/>
          </a:xfrm>
          <a:prstGeom prst="roundRect">
            <a:avLst>
              <a:gd name="adj" fmla="val 10001"/>
            </a:avLst>
          </a:prstGeom>
          <a:solidFill>
            <a:srgbClr val="0B0D0E">
              <a:alpha val="3000"/>
            </a:srgbClr>
          </a:solidFill>
          <a:ln w="9525">
            <a:solidFill>
              <a:srgbClr val="0B0D0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05325" y="2676525"/>
            <a:ext cx="3219018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b="1" dirty="0">
                <a:solidFill>
                  <a:srgbClr val="10121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engineering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05325" y="2932509"/>
            <a:ext cx="3219018" cy="490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5E665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RAG / prompt packing / LLM-as-Judge / MLX-ready。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78701" y="2667000"/>
            <a:ext cx="3174950" cy="888950"/>
          </a:xfrm>
          <a:prstGeom prst="roundRect">
            <a:avLst>
              <a:gd name="adj" fmla="val 10001"/>
            </a:avLst>
          </a:prstGeom>
          <a:solidFill>
            <a:srgbClr val="0B0D0E">
              <a:alpha val="3000"/>
            </a:srgbClr>
          </a:solidFill>
          <a:ln w="9525">
            <a:solidFill>
              <a:srgbClr val="0B0D0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88226" y="2676525"/>
            <a:ext cx="3219018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b="1" dirty="0">
                <a:solidFill>
                  <a:srgbClr val="10121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Data engineering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88226" y="2932509"/>
            <a:ext cx="3219018" cy="490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5E665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PDF / HTML / Markdown 萃取、metadata、manifest。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750" y="4089350"/>
            <a:ext cx="3174950" cy="888950"/>
          </a:xfrm>
          <a:prstGeom prst="roundRect">
            <a:avLst>
              <a:gd name="adj" fmla="val 10001"/>
            </a:avLst>
          </a:prstGeom>
          <a:solidFill>
            <a:srgbClr val="0B0D0E">
              <a:alpha val="3000"/>
            </a:srgbClr>
          </a:solidFill>
          <a:ln w="9525">
            <a:solidFill>
              <a:srgbClr val="0B0D0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4098875"/>
            <a:ext cx="3219018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b="1" dirty="0">
                <a:solidFill>
                  <a:srgbClr val="10121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Software delivery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275" y="4354860"/>
            <a:ext cx="3219018" cy="490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5E665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pytest、ruff、GitHub Actions、CI 評測。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95800" y="4089350"/>
            <a:ext cx="3174950" cy="888950"/>
          </a:xfrm>
          <a:prstGeom prst="roundRect">
            <a:avLst>
              <a:gd name="adj" fmla="val 10001"/>
            </a:avLst>
          </a:prstGeom>
          <a:solidFill>
            <a:srgbClr val="0B0D0E">
              <a:alpha val="3000"/>
            </a:srgbClr>
          </a:solidFill>
          <a:ln w="9525">
            <a:solidFill>
              <a:srgbClr val="0B0D0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05325" y="4098875"/>
            <a:ext cx="3219018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b="1" dirty="0">
                <a:solidFill>
                  <a:srgbClr val="10121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Observability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05325" y="4354860"/>
            <a:ext cx="3219018" cy="490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5E665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SQLite trace、per-finding rag mode、耗時。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78701" y="4089350"/>
            <a:ext cx="3174950" cy="888950"/>
          </a:xfrm>
          <a:prstGeom prst="roundRect">
            <a:avLst>
              <a:gd name="adj" fmla="val 10001"/>
            </a:avLst>
          </a:prstGeom>
          <a:solidFill>
            <a:srgbClr val="0B0D0E">
              <a:alpha val="3000"/>
            </a:srgbClr>
          </a:solidFill>
          <a:ln w="9525">
            <a:solidFill>
              <a:srgbClr val="0B0D0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188226" y="4098875"/>
            <a:ext cx="3219018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b="1" dirty="0">
                <a:solidFill>
                  <a:srgbClr val="10121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Resource control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188226" y="4354860"/>
            <a:ext cx="3219018" cy="24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5E665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逐 finding 批次、timeout、fallback。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84150" y="6515249"/>
            <a:ext cx="11023699" cy="12650"/>
          </a:xfrm>
          <a:prstGeom prst="rect">
            <a:avLst/>
          </a:prstGeom>
          <a:solidFill>
            <a:srgbClr val="D8D2C3">
              <a:alpha val="2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84150" y="6328172"/>
            <a:ext cx="6736029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850" dirty="0">
                <a:solidFill>
                  <a:srgbClr val="0B0D0E">
                    <a:alpha val="55000"/>
                  </a:srgbClr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portfolio story: security + data + local AI + delivery discipline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D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50" y="2133600"/>
            <a:ext cx="11023550" cy="12650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3784550"/>
            <a:ext cx="11023550" cy="12650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84150" y="5435501"/>
            <a:ext cx="11023550" cy="12650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54301" y="507950"/>
            <a:ext cx="12650" cy="5740301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24600" y="507950"/>
            <a:ext cx="12650" cy="5740301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94750" y="507950"/>
            <a:ext cx="12650" cy="5740301"/>
          </a:xfrm>
          <a:prstGeom prst="rect">
            <a:avLst/>
          </a:prstGeom>
          <a:solidFill>
            <a:srgbClr val="D8D2C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4150" y="558701"/>
            <a:ext cx="8679129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000" b="1" dirty="0">
                <a:solidFill>
                  <a:srgbClr val="39FF8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DESIGN METHOD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4150" y="733871"/>
            <a:ext cx="8679129" cy="1564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5500" b="1" dirty="0">
                <a:solidFill>
                  <a:srgbClr val="F7F2D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HTML 做設計，PPTX 仍可交付</a:t>
            </a:r>
            <a:endParaRPr lang="en-US" sz="5500" dirty="0"/>
          </a:p>
        </p:txBody>
      </p:sp>
      <p:sp>
        <p:nvSpPr>
          <p:cNvPr id="10" name="Text 8"/>
          <p:cNvSpPr/>
          <p:nvPr/>
        </p:nvSpPr>
        <p:spPr>
          <a:xfrm>
            <a:off x="584150" y="2450753"/>
            <a:ext cx="7448449" cy="24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9AA3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本版採 Huashu 的 HTML-native slide deck 流程：多文件、可驗證、可轉 PPTX。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38200" y="2920901"/>
            <a:ext cx="3174950" cy="863501"/>
          </a:xfrm>
          <a:prstGeom prst="roundRect">
            <a:avLst>
              <a:gd name="adj" fmla="val 1029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D8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47725" y="2930426"/>
            <a:ext cx="3219018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b="1" dirty="0">
                <a:solidFill>
                  <a:srgbClr val="F7F2D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01 HTML-native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7725" y="3186410"/>
            <a:ext cx="3219018" cy="490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9AA3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每頁獨立 HTML，樣式隔離，瀏覽器可演示。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95800" y="2920901"/>
            <a:ext cx="3174950" cy="863501"/>
          </a:xfrm>
          <a:prstGeom prst="roundRect">
            <a:avLst>
              <a:gd name="adj" fmla="val 1029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D8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05325" y="2930426"/>
            <a:ext cx="3219018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b="1" dirty="0">
                <a:solidFill>
                  <a:srgbClr val="F7F2D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02 Editable PPTX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05325" y="3186410"/>
            <a:ext cx="3219018" cy="490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9AA3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文字在 h/p 內，避開不支援的 gradient 與 background-image。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53400" y="2920901"/>
            <a:ext cx="3174950" cy="863501"/>
          </a:xfrm>
          <a:prstGeom prst="roundRect">
            <a:avLst>
              <a:gd name="adj" fmla="val 1029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D8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162925" y="2930426"/>
            <a:ext cx="3219018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b="1" dirty="0">
                <a:solidFill>
                  <a:srgbClr val="F7F2D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03 Playwright QA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162925" y="3186410"/>
            <a:ext cx="3219018" cy="490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9AA3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逐頁 render 截圖，檢查白屏、裁切、遮擋。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8200" y="4292501"/>
            <a:ext cx="10490150" cy="965150"/>
          </a:xfrm>
          <a:prstGeom prst="roundRect">
            <a:avLst>
              <a:gd name="adj" fmla="val 921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D8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101626" y="4530626"/>
            <a:ext cx="10104120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D8FF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source: github.com/Eskasia/huashu-design · local skill: /Users/william/.skills-manager/skills/huashu-design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4150" y="6515249"/>
            <a:ext cx="11023699" cy="12650"/>
          </a:xfrm>
          <a:prstGeom prst="rect">
            <a:avLst/>
          </a:prstGeom>
          <a:solidFill>
            <a:srgbClr val="D8D2C3">
              <a:alpha val="2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84150" y="6328172"/>
            <a:ext cx="6736029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850" dirty="0">
                <a:solidFill>
                  <a:srgbClr val="D8D2C3">
                    <a:alpha val="60000"/>
                  </a:srgbClr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deliverables: index.html · screenshots · image-mode PPTX · editable-mode PPTX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2026-04-29T01:28:15Z</dcterms:created>
  <dcterms:modified xsi:type="dcterms:W3CDTF">2026-04-29T01:28:15Z</dcterms:modified>
</cp:coreProperties>
</file>