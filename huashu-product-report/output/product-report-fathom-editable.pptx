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2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30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778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22605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40131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7657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1498550"/>
            <a:ext cx="5206901" cy="25301"/>
          </a:xfrm>
          <a:prstGeom prst="rect">
            <a:avLst/>
          </a:prstGeom>
          <a:solidFill>
            <a:srgbClr val="168A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4901" y="647700"/>
            <a:ext cx="686551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168A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PRODUCT REPORT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4901" y="898029"/>
            <a:ext cx="9067749" cy="60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200" b="1" dirty="0">
                <a:solidFill>
                  <a:srgbClr val="112A4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智能合約安全分析助理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34901" y="1620292"/>
            <a:ext cx="6865519" cy="201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產品狀態報告 · v0.8 · 本地漏洞初篩與可追溯 AI 修復建議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92901" y="1269950"/>
            <a:ext cx="3429000" cy="3873401"/>
          </a:xfrm>
          <a:prstGeom prst="roundRect">
            <a:avLst>
              <a:gd name="adj" fmla="val 1481"/>
            </a:avLst>
          </a:prstGeom>
          <a:solidFill>
            <a:srgbClr val="112A46"/>
          </a:solidFill>
          <a:ln w="9525">
            <a:solidFill>
              <a:srgbClr val="112A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54826" y="1406426"/>
            <a:ext cx="3167253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交付狀態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654826" y="1768227"/>
            <a:ext cx="3167253" cy="604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D8E1E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可執行 CLI、Slither 串接、RAG fixture、MLX-ready 介面、SQLite trace、CI workflow 與端到端測試。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556450" y="4572000"/>
            <a:ext cx="812750" cy="279350"/>
          </a:xfrm>
          <a:prstGeom prst="roundRect">
            <a:avLst>
              <a:gd name="adj" fmla="val 450081"/>
            </a:avLst>
          </a:prstGeom>
          <a:solidFill>
            <a:srgbClr val="FFFFFF"/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58038" y="4644926"/>
            <a:ext cx="80957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880" b="1" dirty="0">
                <a:solidFill>
                  <a:srgbClr val="112A4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SAST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8508950" y="4572000"/>
            <a:ext cx="812750" cy="279350"/>
          </a:xfrm>
          <a:prstGeom prst="roundRect">
            <a:avLst>
              <a:gd name="adj" fmla="val 450081"/>
            </a:avLst>
          </a:prstGeom>
          <a:solidFill>
            <a:srgbClr val="FFFFFF"/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510538" y="4644926"/>
            <a:ext cx="80957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880" b="1" dirty="0">
                <a:solidFill>
                  <a:srgbClr val="112A4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RAG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9461450" y="4572000"/>
            <a:ext cx="812750" cy="279350"/>
          </a:xfrm>
          <a:prstGeom prst="roundRect">
            <a:avLst>
              <a:gd name="adj" fmla="val 450081"/>
            </a:avLst>
          </a:prstGeom>
          <a:solidFill>
            <a:srgbClr val="FFFFFF"/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463038" y="4644926"/>
            <a:ext cx="80957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880" b="1" dirty="0">
                <a:solidFill>
                  <a:srgbClr val="112A4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MLX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0413950" y="4572000"/>
            <a:ext cx="812750" cy="279350"/>
          </a:xfrm>
          <a:prstGeom prst="roundRect">
            <a:avLst>
              <a:gd name="adj" fmla="val 450081"/>
            </a:avLst>
          </a:prstGeom>
          <a:solidFill>
            <a:srgbClr val="FFFFFF"/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415538" y="4644926"/>
            <a:ext cx="80957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4"/>
              </a:lnSpc>
              <a:buNone/>
            </a:pPr>
            <a:r>
              <a:rPr lang="en-US" sz="880" b="1" dirty="0">
                <a:solidFill>
                  <a:srgbClr val="112A4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Trace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34901" y="6335613"/>
            <a:ext cx="10922198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901" y="6429226"/>
            <a:ext cx="11140642" cy="13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6"/>
              </a:lnSpc>
              <a:buNone/>
            </a:pPr>
            <a:r>
              <a:rPr lang="en-US" sz="780" dirty="0">
                <a:solidFill>
                  <a:srgbClr val="78807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report scope: product positioning · architecture · validation · risks · roadmap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2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30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778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22605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40131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7657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647700"/>
            <a:ext cx="686551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168A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34901" y="898029"/>
            <a:ext cx="9067749" cy="60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200" b="1" dirty="0">
                <a:solidFill>
                  <a:srgbClr val="112A4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產品已達 MVP 驗收線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34901" y="1620292"/>
            <a:ext cx="6865519" cy="201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MVP——最小可行產品，已能用真實測試合約跑完從靜態分析到報告輸出的流程。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8950" y="2920901"/>
            <a:ext cx="1943100" cy="492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76"/>
              </a:lnSpc>
              <a:buNone/>
            </a:pPr>
            <a:r>
              <a:rPr lang="en-US" sz="3400" b="1" dirty="0">
                <a:solidFill>
                  <a:srgbClr val="168A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88950" y="3476476"/>
            <a:ext cx="1943100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pytest cases passed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01901" y="2920901"/>
            <a:ext cx="1943100" cy="492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76"/>
              </a:lnSpc>
              <a:buNone/>
            </a:pPr>
            <a:r>
              <a:rPr lang="en-US" sz="3400" b="1" dirty="0">
                <a:solidFill>
                  <a:srgbClr val="2368A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1.0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301901" y="3476476"/>
            <a:ext cx="1943100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RAG recall@k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715000" y="2920901"/>
            <a:ext cx="1943100" cy="492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76"/>
              </a:lnSpc>
              <a:buNone/>
            </a:pPr>
            <a:r>
              <a:rPr lang="en-US" sz="3400" b="1" dirty="0">
                <a:solidFill>
                  <a:srgbClr val="C98B1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5.0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715000" y="3476476"/>
            <a:ext cx="1943100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local judge score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127950" y="2920901"/>
            <a:ext cx="1943100" cy="492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76"/>
              </a:lnSpc>
              <a:buNone/>
            </a:pPr>
            <a:r>
              <a:rPr lang="en-US" sz="3400" b="1" dirty="0">
                <a:solidFill>
                  <a:srgbClr val="168A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51.6 MiB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127950" y="3476476"/>
            <a:ext cx="1943100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E2E memory peak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8950" y="4635401"/>
            <a:ext cx="9651950" cy="914400"/>
          </a:xfrm>
          <a:prstGeom prst="roundRect">
            <a:avLst>
              <a:gd name="adj" fmla="val 5556"/>
            </a:avLst>
          </a:prstGeom>
          <a:solidFill>
            <a:srgbClr val="FFFFFF">
              <a:alpha val="52000"/>
            </a:srgbClr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50875" y="4771876"/>
            <a:ext cx="951466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管理結論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0875" y="4974580"/>
            <a:ext cx="9514662" cy="201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現階段適合作為審計前初篩與面試展示產品；下一階段應補多檔案專案支援、真實外部 judge API 與更大的公開審計報告資料集。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4901" y="6335613"/>
            <a:ext cx="10922198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901" y="6429226"/>
            <a:ext cx="11140642" cy="13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6"/>
              </a:lnSpc>
              <a:buNone/>
            </a:pPr>
            <a:r>
              <a:rPr lang="en-US" sz="780" dirty="0">
                <a:solidFill>
                  <a:srgbClr val="78807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validation source: uv run pytest · uv run ruff check . · eval/run_eval.py · eval/run_judge.py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2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30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778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22605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40131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7657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647700"/>
            <a:ext cx="686551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168A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PRODUCT SCOPE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34901" y="898029"/>
            <a:ext cx="9067749" cy="60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200" b="1" dirty="0">
                <a:solidFill>
                  <a:srgbClr val="112A4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定位在正式審計前的工程化初篩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34901" y="1620292"/>
            <a:ext cx="6865519" cy="40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SAST——用靜態分析工具檢查程式碼結構與常見漏洞；本產品把 SAST 結果轉成可閱讀、可追蹤的報告。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7301" y="2793950"/>
            <a:ext cx="2984450" cy="1905000"/>
          </a:xfrm>
          <a:prstGeom prst="roundRect">
            <a:avLst>
              <a:gd name="adj" fmla="val 2667"/>
            </a:avLst>
          </a:prstGeom>
          <a:solidFill>
            <a:srgbClr val="FFFFFF">
              <a:alpha val="52000"/>
            </a:srgbClr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49226" y="2930426"/>
            <a:ext cx="271381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目標使用者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9226" y="3133130"/>
            <a:ext cx="2713812" cy="40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Solidity 開發者、Web3 小團隊、資安課程講師、履歷作品審查者。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97301" y="2793950"/>
            <a:ext cx="2984450" cy="1905000"/>
          </a:xfrm>
          <a:prstGeom prst="roundRect">
            <a:avLst>
              <a:gd name="adj" fmla="val 2667"/>
            </a:avLst>
          </a:prstGeom>
          <a:solidFill>
            <a:srgbClr val="FFFFFF">
              <a:alpha val="52000"/>
            </a:srgbClr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59226" y="2930426"/>
            <a:ext cx="271381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主要任務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9226" y="3133130"/>
            <a:ext cx="2713812" cy="40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單檔合約初篩、修復建議生成、報告輸出、finding 來源回放。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07301" y="2793950"/>
            <a:ext cx="2984450" cy="1905000"/>
          </a:xfrm>
          <a:prstGeom prst="roundRect">
            <a:avLst>
              <a:gd name="adj" fmla="val 2667"/>
            </a:avLst>
          </a:prstGeom>
          <a:solidFill>
            <a:srgbClr val="FFFFFF">
              <a:alpha val="52000"/>
            </a:srgbClr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569226" y="2930426"/>
            <a:ext cx="271381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產品邊界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69226" y="3133130"/>
            <a:ext cx="2713812" cy="40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目前支援單檔 500 行合約；大型 import graph 與完整審計流程放入下一版。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4901" y="6335613"/>
            <a:ext cx="10922198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901" y="6429226"/>
            <a:ext cx="11140642" cy="13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6"/>
              </a:lnSpc>
              <a:buNone/>
            </a:pPr>
            <a:r>
              <a:rPr lang="en-US" sz="780" dirty="0">
                <a:solidFill>
                  <a:srgbClr val="78807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product boundary prevents scope creep during v0.8 validation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2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30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778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22605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40131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7657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647700"/>
            <a:ext cx="686551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168A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34901" y="898029"/>
            <a:ext cx="9067749" cy="60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200" b="1" dirty="0">
                <a:solidFill>
                  <a:srgbClr val="112A4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確定性工具做判定，AI 做解釋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34901" y="1620292"/>
            <a:ext cx="6865519" cy="201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RAG——先檢索技術文件與審計語料，再把相關片段交給模型生成答案。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43000" y="3708350"/>
            <a:ext cx="9778901" cy="12650"/>
          </a:xfrm>
          <a:prstGeom prst="rect">
            <a:avLst/>
          </a:prstGeom>
          <a:solidFill>
            <a:srgbClr val="112A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8950" y="3174950"/>
            <a:ext cx="228600" cy="228600"/>
          </a:xfrm>
          <a:prstGeom prst="roundRect">
            <a:avLst>
              <a:gd name="adj" fmla="val 550000"/>
            </a:avLst>
          </a:prstGeom>
          <a:solidFill>
            <a:srgbClr val="168A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6664" y="3174950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31850" y="3162300"/>
            <a:ext cx="1269391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.sol input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1850" y="3365004"/>
            <a:ext cx="1269391" cy="201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單檔 Solidity 合約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03450" y="3174950"/>
            <a:ext cx="228600" cy="228600"/>
          </a:xfrm>
          <a:prstGeom prst="roundRect">
            <a:avLst>
              <a:gd name="adj" fmla="val 550000"/>
            </a:avLst>
          </a:prstGeom>
          <a:solidFill>
            <a:srgbClr val="2368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01164" y="3174950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46350" y="3162300"/>
            <a:ext cx="1269391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Slither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46350" y="3365004"/>
            <a:ext cx="1269391" cy="40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detector finding + AST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17950" y="3174950"/>
            <a:ext cx="228600" cy="228600"/>
          </a:xfrm>
          <a:prstGeom prst="roundRect">
            <a:avLst>
              <a:gd name="adj" fmla="val 550000"/>
            </a:avLst>
          </a:prstGeom>
          <a:solidFill>
            <a:srgbClr val="C98B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315664" y="3174950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60850" y="3162300"/>
            <a:ext cx="1269391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Adapter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0850" y="3365004"/>
            <a:ext cx="1269391" cy="201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FindingSchema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32450" y="3174950"/>
            <a:ext cx="228600" cy="228600"/>
          </a:xfrm>
          <a:prstGeom prst="roundRect">
            <a:avLst>
              <a:gd name="adj" fmla="val 550000"/>
            </a:avLst>
          </a:prstGeom>
          <a:solidFill>
            <a:srgbClr val="168A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030164" y="3174950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75350" y="3162300"/>
            <a:ext cx="1269391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75350" y="3365004"/>
            <a:ext cx="1269391" cy="40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chunks + references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46950" y="3174950"/>
            <a:ext cx="228600" cy="228600"/>
          </a:xfrm>
          <a:prstGeom prst="roundRect">
            <a:avLst>
              <a:gd name="adj" fmla="val 550000"/>
            </a:avLst>
          </a:prstGeom>
          <a:solidFill>
            <a:srgbClr val="2368A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744664" y="3174950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89850" y="3162300"/>
            <a:ext cx="1269391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MLX-ready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89850" y="3365004"/>
            <a:ext cx="1269391" cy="201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local generation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461450" y="3174950"/>
            <a:ext cx="228600" cy="228600"/>
          </a:xfrm>
          <a:prstGeom prst="roundRect">
            <a:avLst>
              <a:gd name="adj" fmla="val 550000"/>
            </a:avLst>
          </a:prstGeom>
          <a:solidFill>
            <a:srgbClr val="C98B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459164" y="3174950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804350" y="3162300"/>
            <a:ext cx="1269391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Trace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804350" y="3365004"/>
            <a:ext cx="1269391" cy="40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JSON / MD / SQLite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4901" y="6335613"/>
            <a:ext cx="10922198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4901" y="6429226"/>
            <a:ext cx="11140642" cy="13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6"/>
              </a:lnSpc>
              <a:buNone/>
            </a:pPr>
            <a:r>
              <a:rPr lang="en-US" sz="780" dirty="0">
                <a:solidFill>
                  <a:srgbClr val="78807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architecture principle: detector source remains authoritative through report generation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2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30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778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22605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40131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7657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647700"/>
            <a:ext cx="686551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168A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MODULE MAP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34901" y="898029"/>
            <a:ext cx="9067749" cy="60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200" b="1" dirty="0">
                <a:solidFill>
                  <a:srgbClr val="112A4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程式碼邊界跟隨分析生命週期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34901" y="1620292"/>
            <a:ext cx="6865519" cy="201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CLI-first 結構讓工具可在終端、CI 與未來 Web UI 之間重用。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2000" y="2603450"/>
            <a:ext cx="3301901" cy="2920901"/>
          </a:xfrm>
          <a:prstGeom prst="roundRect">
            <a:avLst>
              <a:gd name="adj" fmla="val 1739"/>
            </a:avLst>
          </a:prstGeom>
          <a:solidFill>
            <a:srgbClr val="FFFFFF">
              <a:alpha val="52000"/>
            </a:srgbClr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4675" y="2816126"/>
            <a:ext cx="2849829" cy="141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src/smart_contract_audit/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cli.py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analyzer.py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slither_runner.py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finding_adapter.py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rag/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llm/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validation/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└─ trace/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889450" y="2735163"/>
            <a:ext cx="546095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9450" y="2841427"/>
            <a:ext cx="1009349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slither_runner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21401" y="2841427"/>
            <a:ext cx="2979319" cy="16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7"/>
              </a:lnSpc>
              <a:buNone/>
            </a:pPr>
            <a:r>
              <a:rPr lang="en-US" sz="94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準備 solc、呼叫 Slither、解析 JSON。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4889450" y="3433763"/>
            <a:ext cx="546095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9450" y="3540026"/>
            <a:ext cx="1152349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finding_adapter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21401" y="3540026"/>
            <a:ext cx="2979319" cy="16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7"/>
              </a:lnSpc>
              <a:buNone/>
            </a:pPr>
            <a:r>
              <a:rPr lang="en-US" sz="94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detector 映射成 vulnerability_type 與 severity。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4889450" y="4132213"/>
            <a:ext cx="546095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9450" y="4238476"/>
            <a:ext cx="240762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rag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21401" y="4238476"/>
            <a:ext cx="2979319" cy="16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7"/>
              </a:lnSpc>
              <a:buNone/>
            </a:pPr>
            <a:r>
              <a:rPr lang="en-US" sz="94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萃取、chunk、JSONL、BM25 fallback。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4889450" y="4830663"/>
            <a:ext cx="546095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9450" y="4936927"/>
            <a:ext cx="378753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21401" y="4936927"/>
            <a:ext cx="2979319" cy="16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7"/>
              </a:lnSpc>
              <a:buNone/>
            </a:pPr>
            <a:r>
              <a:rPr lang="en-US" sz="94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analysis_trace 與 trace_findings 支援回放。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634901" y="6335613"/>
            <a:ext cx="10922198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901" y="6429226"/>
            <a:ext cx="11140642" cy="13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6"/>
              </a:lnSpc>
              <a:buNone/>
            </a:pPr>
            <a:r>
              <a:rPr lang="en-US" sz="780" dirty="0">
                <a:solidFill>
                  <a:srgbClr val="78807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module map: analyzer orchestrates tools, adapters normalize output, reports stay traceable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2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30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778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22605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40131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7657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647700"/>
            <a:ext cx="686551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168A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STATIC ANALYSIS CORE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34901" y="898029"/>
            <a:ext cx="9067749" cy="60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200" b="1" dirty="0">
                <a:solidFill>
                  <a:srgbClr val="112A4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正式 finding 來自 Slither detector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34901" y="1620292"/>
            <a:ext cx="6865519" cy="201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模型生成不新增漏洞類型；未映射 detector 進 trace 供人工複核。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88950" y="2735163"/>
            <a:ext cx="45720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8950" y="2841427"/>
            <a:ext cx="1115613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reentrancy-eth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0901" y="2841427"/>
            <a:ext cx="2979319" cy="16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7"/>
              </a:lnSpc>
              <a:buNone/>
            </a:pPr>
            <a:r>
              <a:rPr lang="en-US" sz="94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reentrancy / High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88950" y="3433763"/>
            <a:ext cx="45720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8950" y="3540026"/>
            <a:ext cx="1482221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unchecked-lowlevel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0901" y="3540026"/>
            <a:ext cx="2979319" cy="16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7"/>
              </a:lnSpc>
              <a:buNone/>
            </a:pPr>
            <a:r>
              <a:rPr lang="en-US" sz="94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unchecked_external_call / Medium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888950" y="4132213"/>
            <a:ext cx="45720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8950" y="4238476"/>
            <a:ext cx="1724653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controlled-delegatecall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0901" y="4238476"/>
            <a:ext cx="2979319" cy="16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7"/>
              </a:lnSpc>
              <a:buNone/>
            </a:pPr>
            <a:r>
              <a:rPr lang="en-US" sz="94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dangerous_delegatecall / High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888950" y="4830663"/>
            <a:ext cx="45720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8950" y="4936927"/>
            <a:ext cx="1760631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controlled-array-length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20901" y="4936927"/>
            <a:ext cx="2979319" cy="16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7"/>
              </a:lnSpc>
              <a:buNone/>
            </a:pPr>
            <a:r>
              <a:rPr lang="en-US" sz="94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array_length_manipulation / Medium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7111901" y="2717750"/>
            <a:ext cx="3301901" cy="2349401"/>
          </a:xfrm>
          <a:prstGeom prst="roundRect">
            <a:avLst>
              <a:gd name="adj" fmla="val 2162"/>
            </a:avLst>
          </a:prstGeom>
          <a:solidFill>
            <a:srgbClr val="FFFFFF">
              <a:alpha val="52000"/>
            </a:srgbClr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350026" y="2955875"/>
            <a:ext cx="2849829" cy="141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finding_id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vulnerability_type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severity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location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evidence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finding_confidence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static_tool_source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detector_name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partial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34901" y="6335613"/>
            <a:ext cx="10922198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901" y="6429226"/>
            <a:ext cx="11140642" cy="13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6"/>
              </a:lnSpc>
              <a:buNone/>
            </a:pPr>
            <a:r>
              <a:rPr lang="en-US" sz="780" dirty="0">
                <a:solidFill>
                  <a:srgbClr val="78807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Slither version verified locally: 0.11.5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2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30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778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22605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40131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7657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647700"/>
            <a:ext cx="686551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168A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DATA + RETRIEVAL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34901" y="898029"/>
            <a:ext cx="9067749" cy="60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200" b="1" dirty="0">
                <a:solidFill>
                  <a:srgbClr val="112A4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公開審計報告先轉成可評測語料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34901" y="1620292"/>
            <a:ext cx="6865519" cy="201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非結構化資料萃取——把文件中的純文字、程式碼區塊與 metadata 分離，避免髒資料污染檢索。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7301" y="2793950"/>
            <a:ext cx="2984450" cy="1841450"/>
          </a:xfrm>
          <a:prstGeom prst="roundRect">
            <a:avLst>
              <a:gd name="adj" fmla="val 2759"/>
            </a:avLst>
          </a:prstGeom>
          <a:solidFill>
            <a:srgbClr val="FFFFFF">
              <a:alpha val="52000"/>
            </a:srgbClr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49226" y="2930426"/>
            <a:ext cx="271381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資料清理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9226" y="3133130"/>
            <a:ext cx="2713812" cy="604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PDF / HTML / Markdown 分流，保留 Solidity code block，寫入 source_id、severity、sha256。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0" y="2793950"/>
            <a:ext cx="2984450" cy="1841450"/>
          </a:xfrm>
          <a:prstGeom prst="roundRect">
            <a:avLst>
              <a:gd name="adj" fmla="val 2759"/>
            </a:avLst>
          </a:prstGeom>
          <a:solidFill>
            <a:srgbClr val="FFFFFF">
              <a:alpha val="52000"/>
            </a:srgbClr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33925" y="2930426"/>
            <a:ext cx="271381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檢索策略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33925" y="3133130"/>
            <a:ext cx="2713812" cy="604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quality / balanced / fast / fallback 四種模式，fixture 目前以 BM25 fallback 驗證。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56550" y="2793950"/>
            <a:ext cx="2984450" cy="1841450"/>
          </a:xfrm>
          <a:prstGeom prst="roundRect">
            <a:avLst>
              <a:gd name="adj" fmla="val 2759"/>
            </a:avLst>
          </a:prstGeom>
          <a:solidFill>
            <a:srgbClr val="FFFFFF">
              <a:alpha val="52000"/>
            </a:srgbClr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518475" y="2930426"/>
            <a:ext cx="271381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評測方式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18475" y="3133130"/>
            <a:ext cx="2713812" cy="40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eval/run_eval.py 讀取題庫，計算正確文件是否被檢索進 top-k。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89450" y="4953000"/>
            <a:ext cx="1943100" cy="492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76"/>
              </a:lnSpc>
              <a:buNone/>
            </a:pPr>
            <a:r>
              <a:rPr lang="en-US" sz="3400" b="1" dirty="0">
                <a:solidFill>
                  <a:srgbClr val="168A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1.0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889450" y="5508575"/>
            <a:ext cx="1943100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fixture recall@k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4901" y="6335613"/>
            <a:ext cx="10922198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901" y="6429226"/>
            <a:ext cx="11140642" cy="13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6"/>
              </a:lnSpc>
              <a:buNone/>
            </a:pPr>
            <a:r>
              <a:rPr lang="en-US" sz="780" dirty="0">
                <a:solidFill>
                  <a:srgbClr val="78807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current corpus: data/dataset_v1.0/chunks/chunks.jsonl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2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30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778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22605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40131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7657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647700"/>
            <a:ext cx="686551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168A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LOCAL INFERENCE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34901" y="898029"/>
            <a:ext cx="9067749" cy="60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200" b="1" dirty="0">
                <a:solidFill>
                  <a:srgbClr val="112A4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MLX-ready 設計先控資源再控品質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34901" y="1620292"/>
            <a:ext cx="6865519" cy="40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MLX——Apple Silicon 上的機器學習框架；本產品預留本地模型、4-bit 權重量化與 timeout 降級介面。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8950" y="2920901"/>
            <a:ext cx="1943100" cy="492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76"/>
              </a:lnSpc>
              <a:buNone/>
            </a:pPr>
            <a:r>
              <a:rPr lang="en-US" sz="3400" b="1" dirty="0">
                <a:solidFill>
                  <a:srgbClr val="168A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4.0 GB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88950" y="3476476"/>
            <a:ext cx="1943100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8B 4-bit weight estimate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19500" y="2920901"/>
            <a:ext cx="1943100" cy="492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76"/>
              </a:lnSpc>
              <a:buNone/>
            </a:pPr>
            <a:r>
              <a:rPr lang="en-US" sz="3400" b="1" dirty="0">
                <a:solidFill>
                  <a:srgbClr val="2368A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1024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619500" y="3476476"/>
            <a:ext cx="1943100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tokens per finding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49901" y="2920901"/>
            <a:ext cx="1943100" cy="492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76"/>
              </a:lnSpc>
              <a:buNone/>
            </a:pPr>
            <a:r>
              <a:rPr lang="en-US" sz="3400" b="1" dirty="0">
                <a:solidFill>
                  <a:srgbClr val="B8464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115s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349901" y="3476476"/>
            <a:ext cx="1943100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LLM stop threshold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763000" y="2730401"/>
            <a:ext cx="2412950" cy="2095500"/>
          </a:xfrm>
          <a:prstGeom prst="roundRect">
            <a:avLst>
              <a:gd name="adj" fmla="val 2424"/>
            </a:avLst>
          </a:prstGeom>
          <a:solidFill>
            <a:srgbClr val="FFFFFF">
              <a:alpha val="52000"/>
            </a:srgbClr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924925" y="2866876"/>
            <a:ext cx="213088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降級規則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24925" y="3069580"/>
            <a:ext cx="2130882" cy="720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80s：後續 finding 進 fast mode。</a:t>
            </a:r>
            <a:endParaRPr lang="en-US" sz="1000" dirty="0"/>
          </a:p>
          <a:p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100s：進 fallback mode。</a:t>
            </a:r>
            <a:endParaRPr lang="en-US" sz="1000" dirty="0"/>
          </a:p>
          <a:p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115s：停止生成並保留 deterministic findings。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4901" y="6335613"/>
            <a:ext cx="10922198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901" y="6429226"/>
            <a:ext cx="11140642" cy="13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6"/>
              </a:lnSpc>
              <a:buNone/>
            </a:pPr>
            <a:r>
              <a:rPr lang="en-US" sz="780" dirty="0">
                <a:solidFill>
                  <a:srgbClr val="78807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resource design target: 16GB MacBook Pro local workflow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2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30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778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22605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40131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7657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647700"/>
            <a:ext cx="686551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168A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TRACEABILITY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34901" y="898029"/>
            <a:ext cx="9067749" cy="60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200" b="1" dirty="0">
                <a:solidFill>
                  <a:srgbClr val="112A4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每個報告欄位都能接回來源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34901" y="1620292"/>
            <a:ext cx="6865519" cy="40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Trace——把原始工具輸出、正規化 schema、RAG chunks、prompt、LLM output 與最終報告建立查詢鏈。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2920901"/>
            <a:ext cx="3619500" cy="2095500"/>
          </a:xfrm>
          <a:prstGeom prst="roundRect">
            <a:avLst>
              <a:gd name="adj" fmla="val 2424"/>
            </a:avLst>
          </a:prstGeom>
          <a:solidFill>
            <a:srgbClr val="FFFFFF">
              <a:alpha val="52000"/>
            </a:srgbClr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52525" y="3133576"/>
            <a:ext cx="3173629" cy="1103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finding_id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→ slither_raw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→ normalized_schema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→ rag_chunk_ids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→ packed_prompt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→ llm_raw_output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→ report_field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096000" y="2793950"/>
            <a:ext cx="3936950" cy="698450"/>
          </a:xfrm>
          <a:prstGeom prst="roundRect">
            <a:avLst>
              <a:gd name="adj" fmla="val 7273"/>
            </a:avLst>
          </a:prstGeom>
          <a:solidFill>
            <a:srgbClr val="FFFFFF">
              <a:alpha val="52000"/>
            </a:srgbClr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57925" y="2930426"/>
            <a:ext cx="368536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analysis_trace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57925" y="3133130"/>
            <a:ext cx="3685362" cy="402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contract_id、model_version、dataset_version、final_status。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6000" y="3810000"/>
            <a:ext cx="3936950" cy="698450"/>
          </a:xfrm>
          <a:prstGeom prst="roundRect">
            <a:avLst>
              <a:gd name="adj" fmla="val 7273"/>
            </a:avLst>
          </a:prstGeom>
          <a:solidFill>
            <a:srgbClr val="FFFFFF">
              <a:alpha val="52000"/>
            </a:srgbClr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57925" y="3946475"/>
            <a:ext cx="368536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trace_findings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57925" y="4149179"/>
            <a:ext cx="3685362" cy="201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per-finding rag_mode、耗時、chunks_used。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6000" y="4825901"/>
            <a:ext cx="3936950" cy="698450"/>
          </a:xfrm>
          <a:prstGeom prst="roundRect">
            <a:avLst>
              <a:gd name="adj" fmla="val 7273"/>
            </a:avLst>
          </a:prstGeom>
          <a:solidFill>
            <a:srgbClr val="FFFFFF">
              <a:alpha val="52000"/>
            </a:srgbClr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57925" y="4962376"/>
            <a:ext cx="368536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trace_lookup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57925" y="5165080"/>
            <a:ext cx="3685362" cy="201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CLI 查詢單一 finding 的證據鏈。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4901" y="6335613"/>
            <a:ext cx="10922198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901" y="6429226"/>
            <a:ext cx="11140642" cy="13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6"/>
              </a:lnSpc>
              <a:buNone/>
            </a:pPr>
            <a:r>
              <a:rPr lang="en-US" sz="780" dirty="0">
                <a:solidFill>
                  <a:srgbClr val="78807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trace database: reports-*/analysis_trace.sqlite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2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30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778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22605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40131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7657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647700"/>
            <a:ext cx="686551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168A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CASE STUDY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34901" y="898029"/>
            <a:ext cx="9067749" cy="1215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200" b="1" dirty="0">
                <a:solidFill>
                  <a:srgbClr val="112A4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VulnerableVault reentrancy 被正規化成 High finding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34901" y="2228255"/>
            <a:ext cx="6865519" cy="201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實例顯示產品能從測試合約定位漏洞、附上位置、風險敘述與修復方向。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7301" y="2603450"/>
            <a:ext cx="5206901" cy="2793950"/>
          </a:xfrm>
          <a:prstGeom prst="roundRect">
            <a:avLst>
              <a:gd name="adj" fmla="val 1818"/>
            </a:avLst>
          </a:prstGeom>
          <a:solidFill>
            <a:srgbClr val="FFFFFF">
              <a:alpha val="52000"/>
            </a:srgbClr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25426" y="2841575"/>
            <a:ext cx="4728109" cy="945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function withdraw() external {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uint256 amount = balances[msg.sender];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(bool success,) = msg.sender.call{value: amount}("");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require(success, "transfer failed");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balances[msg.sender] = 0;</a:t>
            </a:r>
            <a:endParaRPr lang="en-US" sz="920" dirty="0"/>
          </a:p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794450" y="2798713"/>
            <a:ext cx="41910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94450" y="2904976"/>
            <a:ext cx="621033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detector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26401" y="2904976"/>
            <a:ext cx="2979319" cy="16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7"/>
              </a:lnSpc>
              <a:buNone/>
            </a:pPr>
            <a:r>
              <a:rPr lang="en-US" sz="94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reentrancy-eth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794450" y="3586163"/>
            <a:ext cx="41910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94450" y="3692426"/>
            <a:ext cx="591583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location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26401" y="3692426"/>
            <a:ext cx="2979319" cy="16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7"/>
              </a:lnSpc>
              <a:buNone/>
            </a:pPr>
            <a:r>
              <a:rPr lang="en-US" sz="94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tests/contracts/VulnerableVault.sol:11-16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6794450" y="4373463"/>
            <a:ext cx="4191000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4450" y="4479727"/>
            <a:ext cx="180040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fix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26401" y="4479727"/>
            <a:ext cx="2979319" cy="16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7"/>
              </a:lnSpc>
              <a:buNone/>
            </a:pPr>
            <a:r>
              <a:rPr lang="en-US" sz="94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checks-effects-interactions + nonReentrant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634901" y="6335613"/>
            <a:ext cx="10922198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901" y="6429226"/>
            <a:ext cx="11140642" cy="13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6"/>
              </a:lnSpc>
              <a:buNone/>
            </a:pPr>
            <a:r>
              <a:rPr lang="en-US" sz="780" dirty="0">
                <a:solidFill>
                  <a:srgbClr val="78807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case finding: external call precedes balance reset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2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30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778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22605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40131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7657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647700"/>
            <a:ext cx="686551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168A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VALIDATION DASHBOARD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34901" y="898029"/>
            <a:ext cx="9067749" cy="60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200" b="1" dirty="0">
                <a:solidFill>
                  <a:srgbClr val="112A4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自動化測試覆蓋核心產品路徑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34901" y="1620292"/>
            <a:ext cx="6865519" cy="201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驗收管線包含單元測試、靜態串接、RAG recall、AI judge 與端到端資源觀測。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3501" y="2793950"/>
            <a:ext cx="1943100" cy="98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76"/>
              </a:lnSpc>
              <a:buNone/>
            </a:pPr>
            <a:r>
              <a:rPr lang="en-US" sz="3400" b="1" dirty="0">
                <a:solidFill>
                  <a:srgbClr val="168A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 passed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63501" y="3841700"/>
            <a:ext cx="1943100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pytest full regression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0501" y="2793950"/>
            <a:ext cx="1943100" cy="98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76"/>
              </a:lnSpc>
              <a:buNone/>
            </a:pPr>
            <a:r>
              <a:rPr lang="en-US" sz="3400" b="1" dirty="0">
                <a:solidFill>
                  <a:srgbClr val="2368A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All passed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530501" y="3841700"/>
            <a:ext cx="1943100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ruff check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13450" y="2793950"/>
            <a:ext cx="1943100" cy="492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76"/>
              </a:lnSpc>
              <a:buNone/>
            </a:pPr>
            <a:r>
              <a:rPr lang="en-US" sz="3400" b="1" dirty="0">
                <a:solidFill>
                  <a:srgbClr val="168A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 passed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13450" y="3349526"/>
            <a:ext cx="1943100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E2E tests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080450" y="2793950"/>
            <a:ext cx="1943100" cy="492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76"/>
              </a:lnSpc>
              <a:buNone/>
            </a:pPr>
            <a:r>
              <a:rPr lang="en-US" sz="3400" b="1" dirty="0">
                <a:solidFill>
                  <a:srgbClr val="C98B1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54,083,584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080450" y="3349526"/>
            <a:ext cx="1943100" cy="166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1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max RSS bytes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3501" y="4698950"/>
            <a:ext cx="10096500" cy="660350"/>
          </a:xfrm>
          <a:prstGeom prst="roundRect">
            <a:avLst>
              <a:gd name="adj" fmla="val 7693"/>
            </a:avLst>
          </a:prstGeom>
          <a:solidFill>
            <a:srgbClr val="FFFFFF">
              <a:alpha val="52000"/>
            </a:srgbClr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01626" y="4898975"/>
            <a:ext cx="9715500" cy="157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2"/>
              </a:lnSpc>
              <a:buNone/>
            </a:pPr>
            <a:r>
              <a:rPr lang="en-US" sz="920" dirty="0">
                <a:solidFill>
                  <a:srgbClr val="0D221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uv run pytest · uv run ruff check . · uv run python eval/run_eval.py · uv run python eval/run_judge.py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34901" y="6335613"/>
            <a:ext cx="10922198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901" y="6429226"/>
            <a:ext cx="11140642" cy="13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6"/>
              </a:lnSpc>
              <a:buNone/>
            </a:pPr>
            <a:r>
              <a:rPr lang="en-US" sz="780" dirty="0">
                <a:solidFill>
                  <a:srgbClr val="78807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judge API key not set; local-rule-judge path produced average_judge_score = 5.0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2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30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778901" y="431750"/>
            <a:ext cx="12650" cy="5816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22605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40131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5765750"/>
            <a:ext cx="10922198" cy="12650"/>
          </a:xfrm>
          <a:prstGeom prst="rect">
            <a:avLst/>
          </a:prstGeom>
          <a:solidFill>
            <a:srgbClr val="CFC8B8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647700"/>
            <a:ext cx="6865519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850" b="1" dirty="0">
                <a:solidFill>
                  <a:srgbClr val="168A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RISKS + ROADMAP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34901" y="898029"/>
            <a:ext cx="9067749" cy="60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200" b="1" dirty="0">
                <a:solidFill>
                  <a:srgbClr val="112A4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下一版補專案支援與外部評測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34901" y="1620292"/>
            <a:ext cx="6865519" cy="201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spcBef>
                <a:spcPts val="900"/>
              </a:spcBef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v0.8 已形成產品骨架；v0.9 應提升資料規模、專案相容性與評測可信度。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2000" y="2730401"/>
            <a:ext cx="2984450" cy="2031950"/>
          </a:xfrm>
          <a:prstGeom prst="roundRect">
            <a:avLst>
              <a:gd name="adj" fmla="val 2500"/>
            </a:avLst>
          </a:prstGeom>
          <a:solidFill>
            <a:srgbClr val="FFFFFF">
              <a:alpha val="52000"/>
            </a:srgbClr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23925" y="2866876"/>
            <a:ext cx="271381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v0.8 已完成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23925" y="3069580"/>
            <a:ext cx="2713812" cy="604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CLI、Slither、FindingSchema、RAG fixture、MLX-ready runtime、trace、CI workflow。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0" y="2730401"/>
            <a:ext cx="2984450" cy="2031950"/>
          </a:xfrm>
          <a:prstGeom prst="roundRect">
            <a:avLst>
              <a:gd name="adj" fmla="val 2500"/>
            </a:avLst>
          </a:prstGeom>
          <a:solidFill>
            <a:srgbClr val="FFFFFF">
              <a:alpha val="52000"/>
            </a:srgbClr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33925" y="2866876"/>
            <a:ext cx="271381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v0.9 優先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33925" y="3069580"/>
            <a:ext cx="2713812" cy="604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多檔 import resolution、Foundry/Hardhat 專案、Mythril 補充、外部 judge API。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82000" y="2730401"/>
            <a:ext cx="2984450" cy="2031950"/>
          </a:xfrm>
          <a:prstGeom prst="roundRect">
            <a:avLst>
              <a:gd name="adj" fmla="val 2500"/>
            </a:avLst>
          </a:prstGeom>
          <a:solidFill>
            <a:srgbClr val="FFFFFF">
              <a:alpha val="52000"/>
            </a:srgbClr>
          </a:solidFill>
          <a:ln w="9525">
            <a:solidFill>
              <a:srgbClr val="CFC8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543925" y="2866876"/>
            <a:ext cx="271381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10141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v1.0 門檻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43925" y="3069580"/>
            <a:ext cx="2713812" cy="604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150" dirty="0">
                <a:solidFill>
                  <a:srgbClr val="68706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真實公開審計報告 corpus、dense retrieval、使用者上傳流程、報告審核 UI。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4901" y="6335613"/>
            <a:ext cx="10922198" cy="0"/>
          </a:xfrm>
          <a:prstGeom prst="line">
            <a:avLst/>
          </a:prstGeom>
          <a:noFill/>
          <a:ln w="9525">
            <a:solidFill>
              <a:srgbClr val="CFC8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901" y="6429226"/>
            <a:ext cx="11140642" cy="13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6"/>
              </a:lnSpc>
              <a:buNone/>
            </a:pPr>
            <a:r>
              <a:rPr lang="en-US" sz="780" dirty="0">
                <a:solidFill>
                  <a:srgbClr val="78807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roadmap principle: expand project compatibility before adding more generation features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2026-04-29T08:04:58Z</dcterms:created>
  <dcterms:modified xsi:type="dcterms:W3CDTF">2026-04-29T08:04:58Z</dcterms:modified>
</cp:coreProperties>
</file>