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80446b9bcb4145" /><Relationship Type="http://schemas.openxmlformats.org/officeDocument/2006/relationships/extended-properties" Target="/docProps/app.xml" Id="Rc7eeb054206f4523" /><Relationship Type="http://schemas.openxmlformats.org/officeDocument/2006/relationships/officeDocument" Target="/ppt/presentation.xml" Id="R4b256563ddce42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ee36b87aa941ac"/>
  </p:sldMasterIdLst>
  <p:notesMasterIdLst>
    <p:notesMasterId xmlns:r="http://schemas.openxmlformats.org/officeDocument/2006/relationships" r:id="R66fef0990ac249a6"/>
  </p:notesMasterIdLst>
  <p:sldIdLst>
    <p:sldId xmlns:r="http://schemas.openxmlformats.org/officeDocument/2006/relationships" id="256" r:id="R6a0f2fbf721c4dd5"/>
    <p:sldId xmlns:r="http://schemas.openxmlformats.org/officeDocument/2006/relationships" id="257" r:id="R39959b20d3a74c2c"/>
    <p:sldId xmlns:r="http://schemas.openxmlformats.org/officeDocument/2006/relationships" id="258" r:id="R3cbd90f01d7945fd"/>
    <p:sldId xmlns:r="http://schemas.openxmlformats.org/officeDocument/2006/relationships" id="259" r:id="Rdb77628e6ccc4674"/>
    <p:sldId xmlns:r="http://schemas.openxmlformats.org/officeDocument/2006/relationships" id="260" r:id="R810863ee9e6b4631"/>
    <p:sldId xmlns:r="http://schemas.openxmlformats.org/officeDocument/2006/relationships" id="261" r:id="Rd1ed6d75571d45ce"/>
    <p:sldId xmlns:r="http://schemas.openxmlformats.org/officeDocument/2006/relationships" id="262" r:id="R887c171074604d03"/>
    <p:sldId xmlns:r="http://schemas.openxmlformats.org/officeDocument/2006/relationships" id="263" r:id="R95bbfb7071ff4a2d"/>
    <p:sldId xmlns:r="http://schemas.openxmlformats.org/officeDocument/2006/relationships" id="264" r:id="R6387e606f575490e"/>
    <p:sldId xmlns:r="http://schemas.openxmlformats.org/officeDocument/2006/relationships" id="265" r:id="R0fda606ac8f04b74"/>
    <p:sldId xmlns:r="http://schemas.openxmlformats.org/officeDocument/2006/relationships" id="266" r:id="R279969fd60bc4c03"/>
    <p:sldId xmlns:r="http://schemas.openxmlformats.org/officeDocument/2006/relationships" id="267" r:id="R622dbfb3e0744f07"/>
    <p:sldId xmlns:r="http://schemas.openxmlformats.org/officeDocument/2006/relationships" id="268" r:id="R84e1fb0f90bb4347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ee36b87aa941ac" /><Relationship Type="http://schemas.openxmlformats.org/officeDocument/2006/relationships/theme" Target="/ppt/theme/theme1.xml" Id="Rbd77be4f3f1d4385" /><Relationship Type="http://schemas.openxmlformats.org/officeDocument/2006/relationships/notesMaster" Target="/ppt/notesMasters/notesMaster1.xml" Id="R66fef0990ac249a6" /><Relationship Type="http://schemas.openxmlformats.org/officeDocument/2006/relationships/presProps" Target="/ppt/presProps.xml" Id="R3bf82847e31a42bd" /><Relationship Type="http://schemas.openxmlformats.org/officeDocument/2006/relationships/viewProps" Target="/ppt/viewProps.xml" Id="R9e58eefa33f14cb9" /><Relationship Type="http://schemas.openxmlformats.org/officeDocument/2006/relationships/tableStyles" Target="/ppt/tableStyles.xml" Id="R9b14de0dbefb41cd" /><Relationship Type="http://schemas.openxmlformats.org/officeDocument/2006/relationships/slide" Target="/ppt/slides/slide1.xml" Id="R6a0f2fbf721c4dd5" /><Relationship Type="http://schemas.openxmlformats.org/officeDocument/2006/relationships/slide" Target="/ppt/slides/slide2.xml" Id="R39959b20d3a74c2c" /><Relationship Type="http://schemas.openxmlformats.org/officeDocument/2006/relationships/slide" Target="/ppt/slides/slide3.xml" Id="R3cbd90f01d7945fd" /><Relationship Type="http://schemas.openxmlformats.org/officeDocument/2006/relationships/slide" Target="/ppt/slides/slide4.xml" Id="Rdb77628e6ccc4674" /><Relationship Type="http://schemas.openxmlformats.org/officeDocument/2006/relationships/slide" Target="/ppt/slides/slide5.xml" Id="R810863ee9e6b4631" /><Relationship Type="http://schemas.openxmlformats.org/officeDocument/2006/relationships/slide" Target="/ppt/slides/slide6.xml" Id="Rd1ed6d75571d45ce" /><Relationship Type="http://schemas.openxmlformats.org/officeDocument/2006/relationships/slide" Target="/ppt/slides/slide7.xml" Id="R887c171074604d03" /><Relationship Type="http://schemas.openxmlformats.org/officeDocument/2006/relationships/slide" Target="/ppt/slides/slide8.xml" Id="R95bbfb7071ff4a2d" /><Relationship Type="http://schemas.openxmlformats.org/officeDocument/2006/relationships/slide" Target="/ppt/slides/slide9.xml" Id="R6387e606f575490e" /><Relationship Type="http://schemas.openxmlformats.org/officeDocument/2006/relationships/slide" Target="/ppt/slides/slide10.xml" Id="R0fda606ac8f04b74" /><Relationship Type="http://schemas.openxmlformats.org/officeDocument/2006/relationships/slide" Target="/ppt/slides/slide11.xml" Id="R279969fd60bc4c03" /><Relationship Type="http://schemas.openxmlformats.org/officeDocument/2006/relationships/slide" Target="/ppt/slides/slide12.xml" Id="R622dbfb3e0744f07" /><Relationship Type="http://schemas.openxmlformats.org/officeDocument/2006/relationships/slide" Target="/ppt/slides/slide13.xml" Id="R84e1fb0f90bb43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911830e5d444c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d8186f9f794832" /><Relationship Type="http://schemas.openxmlformats.org/officeDocument/2006/relationships/notesMaster" Target="/ppt/notesMasters/notesMaster1.xml" Id="Rbf5b6b926a8643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2a2df4c2fc4b49" /><Relationship Type="http://schemas.openxmlformats.org/officeDocument/2006/relationships/notesMaster" Target="/ppt/notesMasters/notesMaster1.xml" Id="R104432a8a70b4f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76ee0e32db43fb" /><Relationship Type="http://schemas.openxmlformats.org/officeDocument/2006/relationships/notesMaster" Target="/ppt/notesMasters/notesMaster1.xml" Id="Rb82823f762de42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2fea4ae34e4cbd" /><Relationship Type="http://schemas.openxmlformats.org/officeDocument/2006/relationships/notesMaster" Target="/ppt/notesMasters/notesMaster1.xml" Id="Rff565fd3dce443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e599c1d8984e9c" /><Relationship Type="http://schemas.openxmlformats.org/officeDocument/2006/relationships/notesMaster" Target="/ppt/notesMasters/notesMaster1.xml" Id="Ra13fc041f9c447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4a61f7cf7c4f41" /><Relationship Type="http://schemas.openxmlformats.org/officeDocument/2006/relationships/notesMaster" Target="/ppt/notesMasters/notesMaster1.xml" Id="Ra9eb58fec67546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012d8d1d5d43fd" /><Relationship Type="http://schemas.openxmlformats.org/officeDocument/2006/relationships/notesMaster" Target="/ppt/notesMasters/notesMaster1.xml" Id="R605125ad4a9743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3649c4931b426f" /><Relationship Type="http://schemas.openxmlformats.org/officeDocument/2006/relationships/notesMaster" Target="/ppt/notesMasters/notesMaster1.xml" Id="R671a848d75de420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6fd32adf6c43b8" /><Relationship Type="http://schemas.openxmlformats.org/officeDocument/2006/relationships/notesMaster" Target="/ppt/notesMasters/notesMaster1.xml" Id="R92fc3f5ac5ff4e6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2ea5347c2ba4874" /><Relationship Type="http://schemas.openxmlformats.org/officeDocument/2006/relationships/notesMaster" Target="/ppt/notesMasters/notesMaster1.xml" Id="R975027fb2b0140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71bcce503ad4f67" /><Relationship Type="http://schemas.openxmlformats.org/officeDocument/2006/relationships/notesMaster" Target="/ppt/notesMasters/notesMaster1.xml" Id="R9b5a02eb28a5433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8cd400be5ab40e5" /><Relationship Type="http://schemas.openxmlformats.org/officeDocument/2006/relationships/notesMaster" Target="/ppt/notesMasters/notesMaster1.xml" Id="R509b18b8f764457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6cf546e56a84958" /><Relationship Type="http://schemas.openxmlformats.org/officeDocument/2006/relationships/notesMaster" Target="/ppt/notesMasters/notesMaster1.xml" Id="R96a6107653b646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d50ffcba6c4b5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1aa625a7d9d4cbc" /><Relationship Type="http://schemas.openxmlformats.org/officeDocument/2006/relationships/slideLayout" Target="/ppt/slideLayouts/slideLayout2.xml" Id="R7650047b4dee45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50047b4dee45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e0f20a7afe40af" /><Relationship Type="http://schemas.openxmlformats.org/officeDocument/2006/relationships/notesSlide" Target="/ppt/notesSlides/notesSlide1.xml" Id="Rb22b0bf9588c47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dae3ade9214da2" /><Relationship Type="http://schemas.openxmlformats.org/officeDocument/2006/relationships/notesSlide" Target="/ppt/notesSlides/notesSlide2.xml" Id="R0880c651c06348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6f5f16be77437a" /><Relationship Type="http://schemas.openxmlformats.org/officeDocument/2006/relationships/notesSlide" Target="/ppt/notesSlides/notesSlide3.xml" Id="R119b4d71b2c748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61dc8427d94bd9" /><Relationship Type="http://schemas.openxmlformats.org/officeDocument/2006/relationships/notesSlide" Target="/ppt/notesSlides/notesSlide4.xml" Id="R3f7af6a673d34b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aff6eb34244ee7" /><Relationship Type="http://schemas.openxmlformats.org/officeDocument/2006/relationships/notesSlide" Target="/ppt/notesSlides/notesSlide5.xml" Id="Rd2279a41b4904c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831ed11d6e499e" /><Relationship Type="http://schemas.openxmlformats.org/officeDocument/2006/relationships/notesSlide" Target="/ppt/notesSlides/notesSlide6.xml" Id="Re76336674f8245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99225092b14789" /><Relationship Type="http://schemas.openxmlformats.org/officeDocument/2006/relationships/notesSlide" Target="/ppt/notesSlides/notesSlide7.xml" Id="R60dcddd69b4c4a8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edee94ebde4a38" /><Relationship Type="http://schemas.openxmlformats.org/officeDocument/2006/relationships/notesSlide" Target="/ppt/notesSlides/notesSlide8.xml" Id="R3be80592bc694a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1f1b514f204c77" /><Relationship Type="http://schemas.openxmlformats.org/officeDocument/2006/relationships/notesSlide" Target="/ppt/notesSlides/notesSlide9.xml" Id="Rc8f6038055be433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4b2002cf684024" /><Relationship Type="http://schemas.openxmlformats.org/officeDocument/2006/relationships/notesSlide" Target="/ppt/notesSlides/notesSlide10.xml" Id="R24b8a7e5e22b4ac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67e57751ef4809" /><Relationship Type="http://schemas.openxmlformats.org/officeDocument/2006/relationships/notesSlide" Target="/ppt/notesSlides/notesSlide11.xml" Id="R2a1f1ee8b94f47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40b077bcd4452c" /><Relationship Type="http://schemas.openxmlformats.org/officeDocument/2006/relationships/notesSlide" Target="/ppt/notesSlides/notesSlide12.xml" Id="Rbab483855a294bd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7fb63805c74898" /><Relationship Type="http://schemas.openxmlformats.org/officeDocument/2006/relationships/notesSlide" Target="/ppt/notesSlides/notesSlide13.xml" Id="R7b181eafed9f4f7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6F92286C-F606-4DD1-801B-72F3442F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6"/>
          </a:solidFill>
          <a:ln xmlns:a="http://schemas.openxmlformats.org/drawingml/2006/main" w="0">
            <a:solidFill>
              <a:srgbClr val="F4F0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EC8821-85AB-4F88-8D84-B4BD728E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5"/>
          </a:solidFill>
          <a:ln xmlns:a="http://schemas.openxmlformats.org/drawingml/2006/main" w="0">
            <a:solidFill>
              <a:srgbClr val="111315"/>
            </a:solidFill>
            <a:prstDash val="solid"/>
          </a:ln>
        </p:spPr>
      </p:sp>
      <p:sp>
        <p:nvSpPr>
          <p:cNvPr id="3" name="left-field">
            <a:extLst xmlns:a="http://schemas.openxmlformats.org/drawingml/2006/main">
              <a:ext uri="{FF2B5EF4-FFF2-40B4-BE49-F238E27FC236}">
                <a16:creationId xmlns:a16="http://schemas.microsoft.com/office/drawing/2014/main" id="{63684A0E-1B44-4F79-9810-19B3FBC6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21A67A"/>
            </a:solidFill>
            <a:prstDash val="solid"/>
          </a:ln>
        </p:spPr>
      </p:sp>
      <p:sp>
        <p:nvSpPr>
          <p:cNvPr id="4" name="pill-Solidity Security">
            <a:extLst xmlns:a="http://schemas.openxmlformats.org/drawingml/2006/main">
              <a:ext uri="{FF2B5EF4-FFF2-40B4-BE49-F238E27FC236}">
                <a16:creationId xmlns:a16="http://schemas.microsoft.com/office/drawing/2014/main" id="{C4BB8D34-679B-4133-8148-B2A0C94F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95350"/>
            <a:ext cx="25717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01D"/>
          </a:solidFill>
          <a:ln xmlns:a="http://schemas.openxmlformats.org/drawingml/2006/main" w="0">
            <a:solidFill>
              <a:srgbClr val="18201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C7B348-3863-4C46-8E16-A3A04C3E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9906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Solidity Security</a:t>
            </a:r>
          </a:p>
        </p:txBody>
      </p:sp>
      <p:sp>
        <p:nvSpPr>
          <p:cNvPr id="6" name="pill-Local-first AI">
            <a:extLst xmlns:a="http://schemas.openxmlformats.org/drawingml/2006/main">
              <a:ext uri="{FF2B5EF4-FFF2-40B4-BE49-F238E27FC236}">
                <a16:creationId xmlns:a16="http://schemas.microsoft.com/office/drawing/2014/main" id="{CB84255D-DB82-4E65-905A-ADFB16E4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895350"/>
            <a:ext cx="21907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8FE1"/>
          </a:solidFill>
          <a:ln xmlns:a="http://schemas.openxmlformats.org/drawingml/2006/main" w="0">
            <a:solidFill>
              <a:srgbClr val="1D8F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68C1B9-1BE3-4320-81FD-CE253616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990600"/>
            <a:ext cx="180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Local-first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F4BDD4-DAFE-4588-B95E-97706199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19600"/>
            <a:ext cx="81915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FFFFFF"/>
                </a:solidFill>
              </a:defRPr>
            </a:pPr>
            <a:r>
              <a:rPr sz="6450" b="1">
                <a:solidFill>
                  <a:srgbClr val="FFFFFF"/>
                </a:solidFill>
              </a:rPr>
              <a:t>智能合約安全分析助理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DB1AAD-C77E-406A-A5FF-6D53E278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9750"/>
            <a:ext cx="69342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D6F5E3"/>
                </a:solidFill>
              </a:defRPr>
            </a:pPr>
            <a:r>
              <a:rPr sz="2550" b="0">
                <a:solidFill>
                  <a:srgbClr val="D6F5E3"/>
                </a:solidFill>
              </a:rPr>
              <a:t>一個可跑、可追蹤、可驗證的本地漏洞初篩 MVP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32FEE1-6E03-413D-B283-B78B8E7E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124950"/>
            <a:ext cx="5372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6F5E3"/>
                </a:solidFill>
              </a:defRPr>
            </a:pPr>
            <a:r>
              <a:rPr sz="1800" b="0">
                <a:solidFill>
                  <a:srgbClr val="D6F5E3"/>
                </a:solidFill>
              </a:rPr>
              <a:t>Slither → RAG → MLX → JSON/MD → SQLite Trace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E582BA-EA86-458A-A400-41F21434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912495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專案展示稿</a:t>
            </a:r>
          </a:p>
        </p:txBody>
      </p:sp>
    </p:spTree>
    <p:extLst>
      <p:ext uri="{BB962C8B-B14F-4D97-AF65-F5344CB8AC3E}">
        <p14:creationId xmlns:p14="http://schemas.microsoft.com/office/powerpoint/2010/main" val="3755809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547EC95D-02BA-475A-9706-F99FD65F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6"/>
          </a:solidFill>
          <a:ln xmlns:a="http://schemas.openxmlformats.org/drawingml/2006/main" w="0">
            <a:solidFill>
              <a:srgbClr val="F4F0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31C8CB-AD93-49C5-8885-A0A8902B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04850"/>
            <a:ext cx="16573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11315"/>
                </a:solidFill>
              </a:defRPr>
            </a:pPr>
            <a:r>
              <a:rPr sz="4350" b="1">
                <a:solidFill>
                  <a:srgbClr val="111315"/>
                </a:solidFill>
              </a:rPr>
              <a:t>專案一句話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410086-5933-4812-817F-8C6AF27A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92202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E746F"/>
                </a:solidFill>
              </a:defRPr>
            </a:pPr>
            <a:r>
              <a:rPr sz="2025" b="0">
                <a:solidFill>
                  <a:srgbClr val="6E746F"/>
                </a:solidFill>
              </a:rPr>
              <a:t>讓開發者上傳單檔 Solidity 合約，在本機完成漏洞初篩、報告生成與全鏈路追蹤。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B52CB2-FC11-49BC-90EE-6E6DFBB2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87820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1A67A"/>
                </a:solidFill>
              </a:defRPr>
            </a:pPr>
            <a:r>
              <a:rPr sz="4350" b="1">
                <a:solidFill>
                  <a:srgbClr val="21A67A"/>
                </a:solidFill>
              </a:rPr>
              <a:t>500 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059571-34BE-4A4D-B2DB-CC21615A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62550"/>
            <a:ext cx="8782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E746F"/>
                </a:solidFill>
              </a:defRPr>
            </a:pPr>
            <a:r>
              <a:rPr sz="1500" b="0">
                <a:solidFill>
                  <a:srgbClr val="6E746F"/>
                </a:solidFill>
              </a:rPr>
              <a:t>單檔合約上限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E3AB23-12B6-4D8D-8668-26B0E8BF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87820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D8FE1"/>
                </a:solidFill>
              </a:defRPr>
            </a:pPr>
            <a:r>
              <a:rPr sz="4350" b="1">
                <a:solidFill>
                  <a:srgbClr val="1D8FE1"/>
                </a:solidFill>
              </a:rPr>
              <a:t>Slither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29DF3D-41C6-4F7B-B243-F378C4E6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400800"/>
            <a:ext cx="8782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E746F"/>
                </a:solidFill>
              </a:defRPr>
            </a:pPr>
            <a:r>
              <a:rPr sz="1500" b="0">
                <a:solidFill>
                  <a:srgbClr val="6E746F"/>
                </a:solidFill>
              </a:rPr>
              <a:t>核心偵測來源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E61D04-A4D0-48BB-9293-68C1449A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77050"/>
            <a:ext cx="87820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4B942"/>
                </a:solidFill>
              </a:defRPr>
            </a:pPr>
            <a:r>
              <a:rPr sz="4350" b="1">
                <a:solidFill>
                  <a:srgbClr val="F4B942"/>
                </a:solidFill>
              </a:rPr>
              <a:t>51.6 MiB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53A737-0760-43BE-9F60-85DDEF85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620000"/>
            <a:ext cx="8782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E746F"/>
                </a:solidFill>
              </a:defRPr>
            </a:pPr>
            <a:r>
              <a:rPr sz="1500" b="0">
                <a:solidFill>
                  <a:srgbClr val="6E746F"/>
                </a:solidFill>
              </a:rPr>
              <a:t>端到端測試記憶體峰值</a:t>
            </a:r>
          </a:p>
        </p:txBody>
      </p:sp>
      <p:sp>
        <p:nvSpPr>
          <p:cNvPr id="10" name="step-1">
            <a:extLst xmlns:a="http://schemas.openxmlformats.org/drawingml/2006/main">
              <a:ext uri="{FF2B5EF4-FFF2-40B4-BE49-F238E27FC236}">
                <a16:creationId xmlns:a16="http://schemas.microsoft.com/office/drawing/2014/main" id="{7C74219D-478D-4367-A2F9-5C15BB20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6995" y="4402455"/>
            <a:ext cx="7183755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783B42-A114-4274-8932-7189E3D8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4645" y="4612005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21A67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D911D1-9995-47B9-B59E-DB496E3B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76250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E0C991-4376-44BA-9B87-14CD3BDF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610100"/>
            <a:ext cx="5962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315"/>
                </a:solidFill>
              </a:defRPr>
            </a:pPr>
            <a:r>
              <a:rPr sz="1950" b="1">
                <a:solidFill>
                  <a:srgbClr val="111315"/>
                </a:solidFill>
              </a:rPr>
              <a:t>靜態分析判定漏洞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670FAF-DD59-4AD1-8FD2-8FDAE742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991100"/>
            <a:ext cx="5962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E746F"/>
                </a:solidFill>
              </a:defRPr>
            </a:pPr>
            <a:r>
              <a:rPr sz="1425" b="0">
                <a:solidFill>
                  <a:srgbClr val="6E746F"/>
                </a:solidFill>
              </a:rPr>
              <a:t>deterministic finding 不交給 LLM 猜測。</a:t>
            </a:r>
          </a:p>
        </p:txBody>
      </p:sp>
      <p:sp>
        <p:nvSpPr>
          <p:cNvPr id="15" name="step-2">
            <a:extLst xmlns:a="http://schemas.openxmlformats.org/drawingml/2006/main">
              <a:ext uri="{FF2B5EF4-FFF2-40B4-BE49-F238E27FC236}">
                <a16:creationId xmlns:a16="http://schemas.microsoft.com/office/drawing/2014/main" id="{E2E13486-CC25-43B5-94D1-775EB4F7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6995" y="5621655"/>
            <a:ext cx="7183755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29DF03-4C10-492B-B95A-B94F0CF8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4645" y="5831205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8FE1"/>
          </a:solidFill>
          <a:ln xmlns:a="http://schemas.openxmlformats.org/drawingml/2006/main" w="0">
            <a:solidFill>
              <a:srgbClr val="1D8F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17F9F7-04DD-4580-91D4-96F0538C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98170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5D1C2C-53C8-4160-A673-6DF8CBC3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829300"/>
            <a:ext cx="5962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315"/>
                </a:solidFill>
              </a:defRPr>
            </a:pPr>
            <a:r>
              <a:rPr sz="1950" b="1">
                <a:solidFill>
                  <a:srgbClr val="111315"/>
                </a:solidFill>
              </a:rPr>
              <a:t>RAG 補上下文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0C4D00-2A54-45A0-B977-D127B9FC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10300"/>
            <a:ext cx="5962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E746F"/>
                </a:solidFill>
              </a:defRPr>
            </a:pPr>
            <a:r>
              <a:rPr sz="1425" b="0">
                <a:solidFill>
                  <a:srgbClr val="6E746F"/>
                </a:solidFill>
              </a:rPr>
              <a:t>審計報告、SWC 與文件 chunk 提供修復依據。</a:t>
            </a:r>
          </a:p>
        </p:txBody>
      </p:sp>
      <p:sp>
        <p:nvSpPr>
          <p:cNvPr id="20" name="step-3">
            <a:extLst xmlns:a="http://schemas.openxmlformats.org/drawingml/2006/main">
              <a:ext uri="{FF2B5EF4-FFF2-40B4-BE49-F238E27FC236}">
                <a16:creationId xmlns:a16="http://schemas.microsoft.com/office/drawing/2014/main" id="{18183268-3464-4356-9441-70869F82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6995" y="6840855"/>
            <a:ext cx="7183755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5D1A92-ACFD-4C73-A315-743AE73F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4645" y="7050405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8232B8-9640-4810-8DB3-9D504F7B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720090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5308C1-4973-4EA8-98FC-B7CED11C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7048500"/>
            <a:ext cx="5962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315"/>
                </a:solidFill>
              </a:defRPr>
            </a:pPr>
            <a:r>
              <a:rPr sz="1950" b="1">
                <a:solidFill>
                  <a:srgbClr val="111315"/>
                </a:solidFill>
              </a:rPr>
              <a:t>Trace 保證可回溯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C1F508-A2BD-41DA-AF2D-392CB744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7429500"/>
            <a:ext cx="5962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E746F"/>
                </a:solidFill>
              </a:defRPr>
            </a:pPr>
            <a:r>
              <a:rPr sz="1425" b="0">
                <a:solidFill>
                  <a:srgbClr val="6E746F"/>
                </a:solidFill>
              </a:rPr>
              <a:t>finding、raw output、prompt、LLM output 都能查。</a:t>
            </a:r>
          </a:p>
        </p:txBody>
      </p:sp>
    </p:spTree>
    <p:extLst>
      <p:ext uri="{BB962C8B-B14F-4D97-AF65-F5344CB8AC3E}">
        <p14:creationId xmlns:p14="http://schemas.microsoft.com/office/powerpoint/2010/main" val="179778097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51D293E5-E350-40B4-B5EC-FDF366C9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6"/>
          </a:solidFill>
          <a:ln xmlns:a="http://schemas.openxmlformats.org/drawingml/2006/main" w="0">
            <a:solidFill>
              <a:srgbClr val="F4F0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5A4E0F-EF74-47BC-9FF0-4CD745F0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85800"/>
            <a:ext cx="16649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1315"/>
                </a:solidFill>
              </a:defRPr>
            </a:pPr>
            <a:r>
              <a:rPr sz="4050" b="1">
                <a:solidFill>
                  <a:srgbClr val="111315"/>
                </a:solidFill>
              </a:rPr>
              <a:t>使用場景：正式審計前的工程化初篩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EE0C09-E47A-483B-B488-5AA5CC5E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7867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E746F"/>
                </a:solidFill>
              </a:defRPr>
            </a:pPr>
            <a:r>
              <a:rPr sz="1875" b="0">
                <a:solidFill>
                  <a:srgbClr val="6E746F"/>
                </a:solidFill>
              </a:rPr>
              <a:t>目標不是取代審計，而是把重複、可驗證、可追蹤的風險整理流程自動化。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44EEFD-1879-4504-8A64-3D9CE64C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67300"/>
            <a:ext cx="7677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85252"/>
                </a:solidFill>
              </a:defRPr>
            </a:pPr>
            <a:r>
              <a:rPr sz="2400" b="1">
                <a:solidFill>
                  <a:srgbClr val="E85252"/>
                </a:solidFill>
              </a:rPr>
              <a:t>痛點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8FC881-B0DF-4BD2-9DAC-A88A8350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57850"/>
            <a:ext cx="60769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1315"/>
                </a:solidFill>
              </a:defRPr>
            </a:pPr>
            <a:r>
              <a:rPr sz="2250" b="0">
                <a:solidFill>
                  <a:srgbClr val="111315"/>
                </a:solidFill>
              </a:rPr>
              <a:t>公開報告格式混亂；多數工具只吐 detector 結果；LLM 容易補出靜態工具沒有的漏洞；本機 16GB 記憶體限制要求逐 finding 處理。</a:t>
            </a:r>
          </a:p>
        </p:txBody>
      </p:sp>
      <p:sp>
        <p:nvSpPr>
          <p:cNvPr id="6" name="step-1">
            <a:extLst xmlns:a="http://schemas.openxmlformats.org/drawingml/2006/main">
              <a:ext uri="{FF2B5EF4-FFF2-40B4-BE49-F238E27FC236}">
                <a16:creationId xmlns:a16="http://schemas.microsoft.com/office/drawing/2014/main" id="{F30AB464-61D9-4828-A655-1635D2BB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2141220"/>
            <a:ext cx="4240530" cy="3729990"/>
          </a:xfrm>
          <a:prstGeom xmlns:a="http://schemas.openxmlformats.org/drawingml/2006/main" prst="roundRect">
            <a:avLst>
              <a:gd name="adj" fmla="val 2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9A132C-C213-45DC-A2B6-1823E1EA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235077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21A6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A5855C-D044-4DEA-94F5-7F52F404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9555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307769-B0A5-47F1-A441-286D0AE5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343150"/>
            <a:ext cx="3028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315"/>
                </a:solidFill>
              </a:defRPr>
            </a:pPr>
            <a:r>
              <a:rPr sz="1950" b="1">
                <a:solidFill>
                  <a:srgbClr val="111315"/>
                </a:solidFill>
              </a:rPr>
              <a:t>個人開發者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FD0D3A-3865-49E2-8BE4-0150D49D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724150"/>
            <a:ext cx="30289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E746F"/>
                </a:solidFill>
              </a:defRPr>
            </a:pPr>
            <a:r>
              <a:rPr sz="1425" b="0">
                <a:solidFill>
                  <a:srgbClr val="6E746F"/>
                </a:solidFill>
              </a:rPr>
              <a:t>提交前找出 reentrancy / unchecked call。</a:t>
            </a:r>
          </a:p>
        </p:txBody>
      </p:sp>
      <p:sp>
        <p:nvSpPr>
          <p:cNvPr id="11" name="step-2">
            <a:extLst xmlns:a="http://schemas.openxmlformats.org/drawingml/2006/main">
              <a:ext uri="{FF2B5EF4-FFF2-40B4-BE49-F238E27FC236}">
                <a16:creationId xmlns:a16="http://schemas.microsoft.com/office/drawing/2014/main" id="{B8DF3A63-2356-4DCA-A447-3BA5CA2B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8320" y="2141220"/>
            <a:ext cx="4240530" cy="3729990"/>
          </a:xfrm>
          <a:prstGeom xmlns:a="http://schemas.openxmlformats.org/drawingml/2006/main" prst="roundRect">
            <a:avLst>
              <a:gd name="adj" fmla="val 2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9FFB4D-C055-4574-AED0-20AA8252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5970" y="235077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8FE1"/>
          </a:solidFill>
          <a:ln xmlns:a="http://schemas.openxmlformats.org/drawingml/2006/main" w="0">
            <a:solidFill>
              <a:srgbClr val="1D8F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AA84DA-4CBC-433C-9BB0-AAA58873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249555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CD158C-039C-466C-AC71-E52B595C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2343150"/>
            <a:ext cx="3028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315"/>
                </a:solidFill>
              </a:defRPr>
            </a:pPr>
            <a:r>
              <a:rPr sz="1950" b="1">
                <a:solidFill>
                  <a:srgbClr val="111315"/>
                </a:solidFill>
              </a:rPr>
              <a:t>Web3 團隊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1F7038-EBAD-45F8-81FC-15515F7C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2724150"/>
            <a:ext cx="3028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E746F"/>
                </a:solidFill>
              </a:defRPr>
            </a:pPr>
            <a:r>
              <a:rPr sz="1425" b="0">
                <a:solidFill>
                  <a:srgbClr val="6E746F"/>
                </a:solidFill>
              </a:rPr>
              <a:t>把初篩結果交給審計師複查。</a:t>
            </a:r>
          </a:p>
        </p:txBody>
      </p:sp>
      <p:sp>
        <p:nvSpPr>
          <p:cNvPr id="16" name="step-3">
            <a:extLst xmlns:a="http://schemas.openxmlformats.org/drawingml/2006/main">
              <a:ext uri="{FF2B5EF4-FFF2-40B4-BE49-F238E27FC236}">
                <a16:creationId xmlns:a16="http://schemas.microsoft.com/office/drawing/2014/main" id="{DCAC3FCC-2CC9-4BDE-BA2F-474993F6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5871210"/>
            <a:ext cx="4240530" cy="3729990"/>
          </a:xfrm>
          <a:prstGeom xmlns:a="http://schemas.openxmlformats.org/drawingml/2006/main" prst="roundRect">
            <a:avLst>
              <a:gd name="adj" fmla="val 2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20DB0A-F2F5-4925-902E-59357B11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608076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0C541F-7F05-476C-9E79-84CDF5EF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22935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D2EC78-A285-4F00-A8B8-3553A072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076950"/>
            <a:ext cx="3028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315"/>
                </a:solidFill>
              </a:defRPr>
            </a:pPr>
            <a:r>
              <a:rPr sz="1950" b="1">
                <a:solidFill>
                  <a:srgbClr val="111315"/>
                </a:solidFill>
              </a:rPr>
              <a:t>課程 / Demo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862567-96E3-4F9D-8D11-A8AE1351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457950"/>
            <a:ext cx="3028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E746F"/>
                </a:solidFill>
              </a:defRPr>
            </a:pPr>
            <a:r>
              <a:rPr sz="1425" b="0">
                <a:solidFill>
                  <a:srgbClr val="6E746F"/>
                </a:solidFill>
              </a:rPr>
              <a:t>展示完整安全分析 pipeline。</a:t>
            </a:r>
          </a:p>
        </p:txBody>
      </p:sp>
      <p:sp>
        <p:nvSpPr>
          <p:cNvPr id="21" name="step-4">
            <a:extLst xmlns:a="http://schemas.openxmlformats.org/drawingml/2006/main">
              <a:ext uri="{FF2B5EF4-FFF2-40B4-BE49-F238E27FC236}">
                <a16:creationId xmlns:a16="http://schemas.microsoft.com/office/drawing/2014/main" id="{A5449F26-B2AB-4964-93EF-62ECA738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8320" y="5871210"/>
            <a:ext cx="4240530" cy="3729990"/>
          </a:xfrm>
          <a:prstGeom xmlns:a="http://schemas.openxmlformats.org/drawingml/2006/main" prst="roundRect">
            <a:avLst>
              <a:gd name="adj" fmla="val 2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4A8C29-22D0-45F0-8887-D17D087E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5970" y="608076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252"/>
          </a:solidFill>
          <a:ln xmlns:a="http://schemas.openxmlformats.org/drawingml/2006/main" w="0">
            <a:solidFill>
              <a:srgbClr val="E8525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4DFE78-1FF2-4D50-A49D-01460AF4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622935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010FD3-0417-407F-845E-B60E14F7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6076950"/>
            <a:ext cx="3028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315"/>
                </a:solidFill>
              </a:defRPr>
            </a:pPr>
            <a:r>
              <a:rPr sz="1950" b="1">
                <a:solidFill>
                  <a:srgbClr val="111315"/>
                </a:solidFill>
              </a:rPr>
              <a:t>履歷作品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47B2C2-741A-4494-B99F-20B2A325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6457950"/>
            <a:ext cx="30289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E746F"/>
                </a:solidFill>
              </a:defRPr>
            </a:pPr>
            <a:r>
              <a:rPr sz="1425" b="0">
                <a:solidFill>
                  <a:srgbClr val="6E746F"/>
                </a:solidFill>
              </a:rPr>
              <a:t>證明能做工具整合、RAG、trace 與評測。</a:t>
            </a:r>
          </a:p>
        </p:txBody>
      </p:sp>
    </p:spTree>
    <p:extLst>
      <p:ext uri="{BB962C8B-B14F-4D97-AF65-F5344CB8AC3E}">
        <p14:creationId xmlns:p14="http://schemas.microsoft.com/office/powerpoint/2010/main" val="92514370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1A74C213-59C2-40DD-8C75-5F9D9F0F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6"/>
          </a:solidFill>
          <a:ln xmlns:a="http://schemas.openxmlformats.org/drawingml/2006/main" w="0">
            <a:solidFill>
              <a:srgbClr val="F4F0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0CDF75-3412-44E0-B76A-85F0A774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168402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1315"/>
                </a:solidFill>
              </a:defRPr>
            </a:pPr>
            <a:r>
              <a:rPr sz="4050" b="1">
                <a:solidFill>
                  <a:srgbClr val="111315"/>
                </a:solidFill>
              </a:rPr>
              <a:t>核心流程：從合約到可追溯報告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969FC-0E84-454F-B27E-2CC8DD4D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6840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E746F"/>
                </a:solidFill>
              </a:defRPr>
            </a:pPr>
            <a:r>
              <a:rPr sz="1800" b="0">
                <a:solidFill>
                  <a:srgbClr val="6E746F"/>
                </a:solidFill>
              </a:rPr>
              <a:t>每個步驟都保留可驗證輸出；LLM 只負責解釋與修復建議。</a:t>
            </a:r>
          </a:p>
        </p:txBody>
      </p:sp>
      <p:sp>
        <p:nvSpPr>
          <p:cNvPr id="4" name="step-1">
            <a:extLst xmlns:a="http://schemas.openxmlformats.org/drawingml/2006/main">
              <a:ext uri="{FF2B5EF4-FFF2-40B4-BE49-F238E27FC236}">
                <a16:creationId xmlns:a16="http://schemas.microsoft.com/office/drawing/2014/main" id="{2E97C562-75D8-4461-B641-59E15620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4540"/>
            <a:ext cx="55118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840130-1398-4B9A-ADE4-A6895064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4409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21A67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C1223F-F728-40C9-A0D7-03EB0553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8125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08521C-BD2A-4824-B96C-2F98DF1A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47900"/>
            <a:ext cx="4286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315"/>
                </a:solidFill>
              </a:defRPr>
            </a:pPr>
            <a:r>
              <a:rPr sz="1950" b="1">
                <a:solidFill>
                  <a:srgbClr val="111315"/>
                </a:solidFill>
              </a:rPr>
              <a:t>.sol 輸入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58979D-7AEC-4AA9-A58B-62AE95DA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09850"/>
            <a:ext cx="4286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E746F"/>
                </a:solidFill>
              </a:defRPr>
            </a:pPr>
            <a:r>
              <a:rPr sz="1425" b="0">
                <a:solidFill>
                  <a:srgbClr val="6E746F"/>
                </a:solidFill>
              </a:rPr>
              <a:t>單檔、500 行、0.6.x–0.8.x</a:t>
            </a:r>
          </a:p>
        </p:txBody>
      </p:sp>
      <p:sp>
        <p:nvSpPr>
          <p:cNvPr id="9" name="step-2">
            <a:extLst xmlns:a="http://schemas.openxmlformats.org/drawingml/2006/main">
              <a:ext uri="{FF2B5EF4-FFF2-40B4-BE49-F238E27FC236}">
                <a16:creationId xmlns:a16="http://schemas.microsoft.com/office/drawing/2014/main" id="{78B45FE7-BD8E-48A2-9B00-ED36EA6D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100" y="2034540"/>
            <a:ext cx="55118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7C78BF-6A70-4715-850D-304A4901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5750" y="224409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8FE1"/>
          </a:solidFill>
          <a:ln xmlns:a="http://schemas.openxmlformats.org/drawingml/2006/main" w="0">
            <a:solidFill>
              <a:srgbClr val="1D8F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CB6683-AB6B-4D33-8F39-79BADFEA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A3A4BA-572B-44EE-8F64-44D90810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47900"/>
            <a:ext cx="4286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315"/>
                </a:solidFill>
              </a:defRPr>
            </a:pPr>
            <a:r>
              <a:rPr sz="1950" b="1">
                <a:solidFill>
                  <a:srgbClr val="111315"/>
                </a:solidFill>
              </a:rPr>
              <a:t>Slither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CEAF26-AF0A-43CC-9A52-5DE72401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09850"/>
            <a:ext cx="4286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E746F"/>
                </a:solidFill>
              </a:defRPr>
            </a:pPr>
            <a:r>
              <a:rPr sz="1425" b="0">
                <a:solidFill>
                  <a:srgbClr val="6E746F"/>
                </a:solidFill>
              </a:rPr>
              <a:t>detector findings + AST</a:t>
            </a:r>
          </a:p>
        </p:txBody>
      </p:sp>
      <p:sp>
        <p:nvSpPr>
          <p:cNvPr id="14" name="step-3">
            <a:extLst xmlns:a="http://schemas.openxmlformats.org/drawingml/2006/main">
              <a:ext uri="{FF2B5EF4-FFF2-40B4-BE49-F238E27FC236}">
                <a16:creationId xmlns:a16="http://schemas.microsoft.com/office/drawing/2014/main" id="{64496D8D-B5D9-4137-8782-6A090312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2300" y="2034540"/>
            <a:ext cx="55118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2533C1-227A-40D5-9941-5F29C057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9950" y="224409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088879-337A-43B2-8FD7-C97771A8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238125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F626EC-F424-4573-9FE8-E0C4B918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2247900"/>
            <a:ext cx="4286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315"/>
                </a:solidFill>
              </a:defRPr>
            </a:pPr>
            <a:r>
              <a:rPr sz="1950" b="1">
                <a:solidFill>
                  <a:srgbClr val="111315"/>
                </a:solidFill>
              </a:rPr>
              <a:t>Adapter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8337BB-4C80-4A96-AF22-E7520870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2609850"/>
            <a:ext cx="4286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E746F"/>
                </a:solidFill>
              </a:defRPr>
            </a:pPr>
            <a:r>
              <a:rPr sz="1425" b="0">
                <a:solidFill>
                  <a:srgbClr val="6E746F"/>
                </a:solidFill>
              </a:rPr>
              <a:t>映射 FindingSchema</a:t>
            </a:r>
          </a:p>
        </p:txBody>
      </p:sp>
      <p:sp>
        <p:nvSpPr>
          <p:cNvPr id="19" name="step-4">
            <a:extLst xmlns:a="http://schemas.openxmlformats.org/drawingml/2006/main">
              <a:ext uri="{FF2B5EF4-FFF2-40B4-BE49-F238E27FC236}">
                <a16:creationId xmlns:a16="http://schemas.microsoft.com/office/drawing/2014/main" id="{CE11E66E-0838-471D-B25E-63FCC3C9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4240"/>
            <a:ext cx="55118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635DF1-6311-4CC5-8246-7197728D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5379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21A67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DB6683-6C3D-4B32-9375-6028F376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9095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6505C5-6421-4511-9513-CAEBD2AC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57600"/>
            <a:ext cx="4286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315"/>
                </a:solidFill>
              </a:defRPr>
            </a:pPr>
            <a:r>
              <a:rPr sz="1950" b="1">
                <a:solidFill>
                  <a:srgbClr val="111315"/>
                </a:solidFill>
              </a:rPr>
              <a:t>RAG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7ABCAB-E7BC-407A-BC23-2B8D7174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19550"/>
            <a:ext cx="4286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E746F"/>
                </a:solidFill>
              </a:defRPr>
            </a:pPr>
            <a:r>
              <a:rPr sz="1425" b="0">
                <a:solidFill>
                  <a:srgbClr val="6E746F"/>
                </a:solidFill>
              </a:rPr>
              <a:t>BM25 / Dense / Rerank / fallback</a:t>
            </a:r>
          </a:p>
        </p:txBody>
      </p:sp>
      <p:sp>
        <p:nvSpPr>
          <p:cNvPr id="24" name="step-5">
            <a:extLst xmlns:a="http://schemas.openxmlformats.org/drawingml/2006/main">
              <a:ext uri="{FF2B5EF4-FFF2-40B4-BE49-F238E27FC236}">
                <a16:creationId xmlns:a16="http://schemas.microsoft.com/office/drawing/2014/main" id="{2BF866D6-03ED-4841-AFF4-1B9B16A4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100" y="3444240"/>
            <a:ext cx="55118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511622-0F90-4413-A1D6-3945347F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5750" y="365379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8FE1"/>
          </a:solidFill>
          <a:ln xmlns:a="http://schemas.openxmlformats.org/drawingml/2006/main" w="0">
            <a:solidFill>
              <a:srgbClr val="1D8F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6760ED-5A6B-41FA-9701-0AD405B1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9095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52869A-72A1-48E8-A552-7AD54076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57600"/>
            <a:ext cx="4286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315"/>
                </a:solidFill>
              </a:defRPr>
            </a:pPr>
            <a:r>
              <a:rPr sz="1950" b="1">
                <a:solidFill>
                  <a:srgbClr val="111315"/>
                </a:solidFill>
              </a:rPr>
              <a:t>MLX-ready LLM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DA3143-8C0D-4280-85A5-52D949FA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19550"/>
            <a:ext cx="4286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E746F"/>
                </a:solidFill>
              </a:defRPr>
            </a:pPr>
            <a:r>
              <a:rPr sz="1425" b="0">
                <a:solidFill>
                  <a:srgbClr val="6E746F"/>
                </a:solidFill>
              </a:rPr>
              <a:t>逐 finding 生成，支援 4-bit 模型</a:t>
            </a:r>
          </a:p>
        </p:txBody>
      </p:sp>
      <p:sp>
        <p:nvSpPr>
          <p:cNvPr id="29" name="step-6">
            <a:extLst xmlns:a="http://schemas.openxmlformats.org/drawingml/2006/main">
              <a:ext uri="{FF2B5EF4-FFF2-40B4-BE49-F238E27FC236}">
                <a16:creationId xmlns:a16="http://schemas.microsoft.com/office/drawing/2014/main" id="{20863A2F-F6E9-4845-99BE-CF1CC221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2300" y="3444240"/>
            <a:ext cx="55118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28C4AC-90D4-4287-8DFB-6D93D42E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9950" y="365379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933204-FBE4-43C3-8955-E58D4877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379095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D2A7F9-AC8E-410C-BF76-9D9D56A4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3657600"/>
            <a:ext cx="4286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315"/>
                </a:solidFill>
              </a:defRPr>
            </a:pPr>
            <a:r>
              <a:rPr sz="1950" b="1">
                <a:solidFill>
                  <a:srgbClr val="111315"/>
                </a:solidFill>
              </a:rPr>
              <a:t>Report + Trace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5708E5-31DB-482F-9E0E-36267F91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4019550"/>
            <a:ext cx="4286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E746F"/>
                </a:solidFill>
              </a:defRPr>
            </a:pPr>
            <a:r>
              <a:rPr sz="1425" b="0">
                <a:solidFill>
                  <a:srgbClr val="6E746F"/>
                </a:solidFill>
              </a:rPr>
              <a:t>JSON、Markdown、SQLite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A0A77F-20AC-4E11-84F7-50ACA051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3940"/>
            <a:ext cx="16840200" cy="65532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18201D"/>
          </a:solidFill>
          <a:ln xmlns:a="http://schemas.openxmlformats.org/drawingml/2006/main" w="0">
            <a:solidFill>
              <a:srgbClr val="18201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BD4478-AE7A-474D-9A80-9DA05BA8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48250"/>
            <a:ext cx="16306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7F8EE"/>
                </a:solidFill>
              </a:defRPr>
            </a:pPr>
            <a:r>
              <a:rPr sz="1800" b="0">
                <a:solidFill>
                  <a:srgbClr val="E7F8EE"/>
                </a:solidFill>
              </a:rPr>
              <a:t>scsa analyze tests/contracts/VulnerableVault.sol --out-dir reports --rag-mode fallback</a:t>
            </a:r>
          </a:p>
        </p:txBody>
      </p:sp>
    </p:spTree>
    <p:extLst>
      <p:ext uri="{BB962C8B-B14F-4D97-AF65-F5344CB8AC3E}">
        <p14:creationId xmlns:p14="http://schemas.microsoft.com/office/powerpoint/2010/main" val="207847278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5A8F6D3B-A0F9-4FBB-9093-90531058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6"/>
          </a:solidFill>
          <a:ln xmlns:a="http://schemas.openxmlformats.org/drawingml/2006/main" w="0">
            <a:solidFill>
              <a:srgbClr val="F4F0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BFE7F1-12F5-48CC-A59E-9BF10904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16687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1315"/>
                </a:solidFill>
              </a:defRPr>
            </a:pPr>
            <a:r>
              <a:rPr sz="4050" b="1">
                <a:solidFill>
                  <a:srgbClr val="111315"/>
                </a:solidFill>
              </a:rPr>
              <a:t>架構內容：模組邊界清楚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659B76-4DB6-49ED-800A-583B9660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6687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E746F"/>
                </a:solidFill>
              </a:defRPr>
            </a:pPr>
            <a:r>
              <a:rPr sz="1800" b="0">
                <a:solidFill>
                  <a:srgbClr val="6E746F"/>
                </a:solidFill>
              </a:rPr>
              <a:t>Python package 採 CLI-first 結構，外部工具與展示層都是可選依賴。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60FD59-C66B-4066-BA67-9ECF2EE6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7258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1A67A"/>
                </a:solidFill>
              </a:defRPr>
            </a:pPr>
            <a:r>
              <a:rPr sz="1950" b="1">
                <a:solidFill>
                  <a:srgbClr val="21A67A"/>
                </a:solidFill>
              </a:rPr>
              <a:t>src/smart_contract_audit/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FE712-EBFA-42CE-8AC5-D72D822D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14600"/>
            <a:ext cx="2343150" cy="2476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315"/>
                </a:solidFill>
              </a:defRPr>
            </a:pPr>
            <a:r>
              <a:rPr sz="1800" b="0">
                <a:solidFill>
                  <a:srgbClr val="111315"/>
                </a:solidFill>
              </a:rPr>
              <a:t>├─ cli.py</a:t>
            </a:r>
          </a:p>
          <a:p xmlns:a="http://schemas.openxmlformats.org/drawingml/2006/main">
            <a:pPr>
              <a:defRPr sz="1800" b="0">
                <a:solidFill>
                  <a:srgbClr val="111315"/>
                </a:solidFill>
              </a:defRPr>
            </a:pPr>
            <a:r>
              <a:rPr sz="1800" b="0">
                <a:solidFill>
                  <a:srgbClr val="111315"/>
                </a:solidFill>
              </a:rPr>
              <a:t>├─ analyzer.py</a:t>
            </a:r>
          </a:p>
          <a:p xmlns:a="http://schemas.openxmlformats.org/drawingml/2006/main">
            <a:pPr>
              <a:defRPr sz="1800" b="0">
                <a:solidFill>
                  <a:srgbClr val="111315"/>
                </a:solidFill>
              </a:defRPr>
            </a:pPr>
            <a:r>
              <a:rPr sz="1800" b="0">
                <a:solidFill>
                  <a:srgbClr val="111315"/>
                </a:solidFill>
              </a:rPr>
              <a:t>├─ slither_runner.py</a:t>
            </a:r>
          </a:p>
          <a:p xmlns:a="http://schemas.openxmlformats.org/drawingml/2006/main">
            <a:pPr>
              <a:defRPr sz="1800" b="0">
                <a:solidFill>
                  <a:srgbClr val="111315"/>
                </a:solidFill>
              </a:defRPr>
            </a:pPr>
            <a:r>
              <a:rPr sz="1800" b="0">
                <a:solidFill>
                  <a:srgbClr val="111315"/>
                </a:solidFill>
              </a:rPr>
              <a:t>├─ finding_adapter.py</a:t>
            </a:r>
          </a:p>
          <a:p xmlns:a="http://schemas.openxmlformats.org/drawingml/2006/main">
            <a:pPr>
              <a:defRPr sz="1800" b="0">
                <a:solidFill>
                  <a:srgbClr val="111315"/>
                </a:solidFill>
              </a:defRPr>
            </a:pPr>
            <a:r>
              <a:rPr sz="1800" b="0">
                <a:solidFill>
                  <a:srgbClr val="111315"/>
                </a:solidFill>
              </a:rPr>
              <a:t>├─ rag/</a:t>
            </a:r>
          </a:p>
          <a:p xmlns:a="http://schemas.openxmlformats.org/drawingml/2006/main">
            <a:pPr>
              <a:defRPr sz="1800" b="0">
                <a:solidFill>
                  <a:srgbClr val="111315"/>
                </a:solidFill>
              </a:defRPr>
            </a:pPr>
            <a:r>
              <a:rPr sz="1800" b="0">
                <a:solidFill>
                  <a:srgbClr val="111315"/>
                </a:solidFill>
              </a:rPr>
              <a:t>├─ llm/</a:t>
            </a:r>
          </a:p>
          <a:p xmlns:a="http://schemas.openxmlformats.org/drawingml/2006/main">
            <a:pPr>
              <a:defRPr sz="1800" b="0">
                <a:solidFill>
                  <a:srgbClr val="111315"/>
                </a:solidFill>
              </a:defRPr>
            </a:pPr>
            <a:r>
              <a:rPr sz="1800" b="0">
                <a:solidFill>
                  <a:srgbClr val="111315"/>
                </a:solidFill>
              </a:rPr>
              <a:t>├─ confidence/</a:t>
            </a:r>
          </a:p>
          <a:p xmlns:a="http://schemas.openxmlformats.org/drawingml/2006/main">
            <a:pPr>
              <a:defRPr sz="1800" b="0">
                <a:solidFill>
                  <a:srgbClr val="111315"/>
                </a:solidFill>
              </a:defRPr>
            </a:pPr>
            <a:r>
              <a:rPr sz="1800" b="0">
                <a:solidFill>
                  <a:srgbClr val="111315"/>
                </a:solidFill>
              </a:rPr>
              <a:t>├─ validation/</a:t>
            </a:r>
          </a:p>
          <a:p xmlns:a="http://schemas.openxmlformats.org/drawingml/2006/main">
            <a:pPr>
              <a:defRPr sz="1800" b="0">
                <a:solidFill>
                  <a:srgbClr val="111315"/>
                </a:solidFill>
              </a:defRPr>
            </a:pPr>
            <a:r>
              <a:rPr sz="1800" b="0">
                <a:solidFill>
                  <a:srgbClr val="111315"/>
                </a:solidFill>
              </a:rPr>
              <a:t>└─ trace/</a:t>
            </a:r>
          </a:p>
        </p:txBody>
      </p:sp>
      <p:sp>
        <p:nvSpPr>
          <p:cNvPr id="6" name="step-1">
            <a:extLst xmlns:a="http://schemas.openxmlformats.org/drawingml/2006/main">
              <a:ext uri="{FF2B5EF4-FFF2-40B4-BE49-F238E27FC236}">
                <a16:creationId xmlns:a16="http://schemas.microsoft.com/office/drawing/2014/main" id="{5168837B-024D-4F9E-A436-E5908A5C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458" y="2072640"/>
            <a:ext cx="4437221" cy="3773805"/>
          </a:xfrm>
          <a:prstGeom xmlns:a="http://schemas.openxmlformats.org/drawingml/2006/main" prst="roundRect">
            <a:avLst>
              <a:gd name="adj" fmla="val 20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D2BD23-96CF-46FA-881A-0878CD84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1108" y="228219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8FE1"/>
          </a:solidFill>
          <a:ln xmlns:a="http://schemas.openxmlformats.org/drawingml/2006/main" w="0">
            <a:solidFill>
              <a:srgbClr val="1D8F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EFA235-1534-4D95-B478-47F4DC05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1935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5151BD-BE77-47CB-98D7-1421F3A0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86000"/>
            <a:ext cx="32194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315"/>
                </a:solidFill>
              </a:defRPr>
            </a:pPr>
            <a:r>
              <a:rPr sz="1950" b="1">
                <a:solidFill>
                  <a:srgbClr val="111315"/>
                </a:solidFill>
              </a:rPr>
              <a:t>slither_runner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C1549E-FD63-4593-B0AB-360C80F1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47950"/>
            <a:ext cx="3219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E746F"/>
                </a:solidFill>
              </a:defRPr>
            </a:pPr>
            <a:r>
              <a:rPr sz="1425" b="0">
                <a:solidFill>
                  <a:srgbClr val="6E746F"/>
                </a:solidFill>
              </a:rPr>
              <a:t>準備 solc，呼叫 Slither，解析 JSON。</a:t>
            </a:r>
          </a:p>
        </p:txBody>
      </p:sp>
      <p:sp>
        <p:nvSpPr>
          <p:cNvPr id="11" name="step-2">
            <a:extLst xmlns:a="http://schemas.openxmlformats.org/drawingml/2006/main">
              <a:ext uri="{FF2B5EF4-FFF2-40B4-BE49-F238E27FC236}">
                <a16:creationId xmlns:a16="http://schemas.microsoft.com/office/drawing/2014/main" id="{FCD8085F-9D20-4A1B-B5CA-7569F984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0679" y="2072640"/>
            <a:ext cx="4437221" cy="3773805"/>
          </a:xfrm>
          <a:prstGeom xmlns:a="http://schemas.openxmlformats.org/drawingml/2006/main" prst="roundRect">
            <a:avLst>
              <a:gd name="adj" fmla="val 20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759E2B-744F-4180-9C73-559600DA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8329" y="228219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21A67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8FDC91-7AD9-4EC0-BAEC-CFB6F2CA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41935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8B8AB4-AC27-4B11-ABA6-7DE412A8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2286000"/>
            <a:ext cx="32194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315"/>
                </a:solidFill>
              </a:defRPr>
            </a:pPr>
            <a:r>
              <a:rPr sz="1950" b="1">
                <a:solidFill>
                  <a:srgbClr val="111315"/>
                </a:solidFill>
              </a:rPr>
              <a:t>finding_adapter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167E6D-905D-4A37-9ED5-2C1757C6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2647950"/>
            <a:ext cx="32194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E746F"/>
                </a:solidFill>
              </a:defRPr>
            </a:pPr>
            <a:r>
              <a:rPr sz="1425" b="0">
                <a:solidFill>
                  <a:srgbClr val="6E746F"/>
                </a:solidFill>
              </a:rPr>
              <a:t>Detector → vulnerability_type / severity。</a:t>
            </a:r>
          </a:p>
        </p:txBody>
      </p:sp>
      <p:sp>
        <p:nvSpPr>
          <p:cNvPr id="16" name="step-3">
            <a:extLst xmlns:a="http://schemas.openxmlformats.org/drawingml/2006/main">
              <a:ext uri="{FF2B5EF4-FFF2-40B4-BE49-F238E27FC236}">
                <a16:creationId xmlns:a16="http://schemas.microsoft.com/office/drawing/2014/main" id="{0EAB7464-6FB1-4AEF-8372-314EAE02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458" y="5846445"/>
            <a:ext cx="4437221" cy="3773805"/>
          </a:xfrm>
          <a:prstGeom xmlns:a="http://schemas.openxmlformats.org/drawingml/2006/main" prst="roundRect">
            <a:avLst>
              <a:gd name="adj" fmla="val 20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240A4A-8553-415E-91DA-A55F73C3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1108" y="6055995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73E435-12B2-44CC-A96B-7F500A81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619125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CC9F5F-B48F-43CC-A001-9BF93108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057900"/>
            <a:ext cx="32194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315"/>
                </a:solidFill>
              </a:defRPr>
            </a:pPr>
            <a:r>
              <a:rPr sz="1950" b="1">
                <a:solidFill>
                  <a:srgbClr val="111315"/>
                </a:solidFill>
              </a:rPr>
              <a:t>rag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9ABCDA-D9D8-4186-B7CF-83B2E0F6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438900"/>
            <a:ext cx="32194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E746F"/>
                </a:solidFill>
              </a:defRPr>
            </a:pPr>
            <a:r>
              <a:rPr sz="1425" b="0">
                <a:solidFill>
                  <a:srgbClr val="6E746F"/>
                </a:solidFill>
              </a:rPr>
              <a:t>文件萃取、chunk、JSONL、BM25 fallback。</a:t>
            </a:r>
          </a:p>
        </p:txBody>
      </p:sp>
      <p:sp>
        <p:nvSpPr>
          <p:cNvPr id="21" name="step-4">
            <a:extLst xmlns:a="http://schemas.openxmlformats.org/drawingml/2006/main">
              <a:ext uri="{FF2B5EF4-FFF2-40B4-BE49-F238E27FC236}">
                <a16:creationId xmlns:a16="http://schemas.microsoft.com/office/drawing/2014/main" id="{5D047304-98DC-4814-8E00-EB6B7B16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0679" y="5846445"/>
            <a:ext cx="4437221" cy="3773805"/>
          </a:xfrm>
          <a:prstGeom xmlns:a="http://schemas.openxmlformats.org/drawingml/2006/main" prst="roundRect">
            <a:avLst>
              <a:gd name="adj" fmla="val 20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F37596-236F-41F8-B26F-835199EF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8329" y="6055995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252"/>
          </a:solidFill>
          <a:ln xmlns:a="http://schemas.openxmlformats.org/drawingml/2006/main" w="0">
            <a:solidFill>
              <a:srgbClr val="E8525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96752F-0BC2-46FB-AC68-4B6F1549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619125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D27FB3-B905-4C7F-9A0B-FC572F95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6057900"/>
            <a:ext cx="32194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315"/>
                </a:solidFill>
              </a:defRPr>
            </a:pPr>
            <a:r>
              <a:rPr sz="1950" b="1">
                <a:solidFill>
                  <a:srgbClr val="111315"/>
                </a:solidFill>
              </a:rPr>
              <a:t>trace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FE6FBA-25A5-4646-A852-47AA3468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6438900"/>
            <a:ext cx="3219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E746F"/>
                </a:solidFill>
              </a:defRPr>
            </a:pPr>
            <a:r>
              <a:rPr sz="1425" b="0">
                <a:solidFill>
                  <a:srgbClr val="6E746F"/>
                </a:solidFill>
              </a:rPr>
              <a:t>analysis_trace 與 trace_findings 可查。</a:t>
            </a:r>
          </a:p>
        </p:txBody>
      </p:sp>
    </p:spTree>
    <p:extLst>
      <p:ext uri="{BB962C8B-B14F-4D97-AF65-F5344CB8AC3E}">
        <p14:creationId xmlns:p14="http://schemas.microsoft.com/office/powerpoint/2010/main" val="16787687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2D8E1230-2796-4BF1-956F-3CAAC4B5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6"/>
          </a:solidFill>
          <a:ln xmlns:a="http://schemas.openxmlformats.org/drawingml/2006/main" w="0">
            <a:solidFill>
              <a:srgbClr val="F4F0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D117D0-7EF0-4C24-94F8-2202FB0F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85800"/>
            <a:ext cx="16649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1315"/>
                </a:solidFill>
              </a:defRPr>
            </a:pPr>
            <a:r>
              <a:rPr sz="4050" b="1">
                <a:solidFill>
                  <a:srgbClr val="111315"/>
                </a:solidFill>
              </a:rPr>
              <a:t>技術核心 01：漏洞判定不交給模型猜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2080C2-32C6-4097-9948-7C53AA55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09700"/>
            <a:ext cx="16649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E746F"/>
                </a:solidFill>
              </a:defRPr>
            </a:pPr>
            <a:r>
              <a:rPr sz="1800" b="0">
                <a:solidFill>
                  <a:srgbClr val="6E746F"/>
                </a:solidFill>
              </a:rPr>
              <a:t>Slither 是 deterministic source；未映射 detector 進 trace，不進正式報告。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64AF8B-1163-4C0A-B014-4B4F2893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80772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315"/>
                </a:solidFill>
              </a:defRPr>
            </a:pPr>
            <a:r>
              <a:rPr sz="2400" b="1">
                <a:solidFill>
                  <a:srgbClr val="111315"/>
                </a:solidFill>
              </a:rPr>
              <a:t>支援 detector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EDFAAD-56F7-4039-9A68-B5DA5B12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80772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315"/>
                </a:solidFill>
              </a:defRPr>
            </a:pPr>
            <a:r>
              <a:rPr sz="1725" b="0">
                <a:solidFill>
                  <a:srgbClr val="111315"/>
                </a:solidFill>
              </a:rPr>
              <a:t>reentrancy-eth      → reentrancy / High</a:t>
            </a:r>
          </a:p>
          <a:p xmlns:a="http://schemas.openxmlformats.org/drawingml/2006/main">
            <a:pPr>
              <a:defRPr sz="1725" b="0">
                <a:solidFill>
                  <a:srgbClr val="111315"/>
                </a:solidFill>
              </a:defRPr>
            </a:pPr>
            <a:r>
              <a:rPr sz="1725" b="0">
                <a:solidFill>
                  <a:srgbClr val="111315"/>
                </a:solidFill>
              </a:rPr>
              <a:t>unchecked-lowlevel  → unchecked_external_call / Medium</a:t>
            </a:r>
          </a:p>
          <a:p xmlns:a="http://schemas.openxmlformats.org/drawingml/2006/main">
            <a:pPr>
              <a:defRPr sz="1725" b="0">
                <a:solidFill>
                  <a:srgbClr val="111315"/>
                </a:solidFill>
              </a:defRPr>
            </a:pPr>
            <a:r>
              <a:rPr sz="1725" b="0">
                <a:solidFill>
                  <a:srgbClr val="111315"/>
                </a:solidFill>
              </a:rPr>
              <a:t>controlled-delegatecall → dangerous_delegatecall / High</a:t>
            </a:r>
          </a:p>
          <a:p xmlns:a="http://schemas.openxmlformats.org/drawingml/2006/main">
            <a:pPr>
              <a:defRPr sz="1725" b="0">
                <a:solidFill>
                  <a:srgbClr val="111315"/>
                </a:solidFill>
              </a:defRPr>
            </a:pPr>
            <a:r>
              <a:rPr sz="1725" b="0">
                <a:solidFill>
                  <a:srgbClr val="111315"/>
                </a:solidFill>
              </a:rPr>
              <a:t>controlled-array-length → array_length_manipulation / Medium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816A5B-31A6-4A57-B3F9-9EDF50D3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14550"/>
            <a:ext cx="80772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315"/>
                </a:solidFill>
              </a:defRPr>
            </a:pPr>
            <a:r>
              <a:rPr sz="2400" b="1">
                <a:solidFill>
                  <a:srgbClr val="111315"/>
                </a:solidFill>
              </a:rPr>
              <a:t>報告欄位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CBEC1-0C74-4142-9BE9-51D27A4E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67000"/>
            <a:ext cx="80772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315"/>
                </a:solidFill>
              </a:defRPr>
            </a:pPr>
            <a:r>
              <a:rPr sz="1725" b="0">
                <a:solidFill>
                  <a:srgbClr val="111315"/>
                </a:solidFill>
              </a:rPr>
              <a:t>finding_id</a:t>
            </a:r>
          </a:p>
          <a:p xmlns:a="http://schemas.openxmlformats.org/drawingml/2006/main">
            <a:pPr>
              <a:defRPr sz="1725" b="0">
                <a:solidFill>
                  <a:srgbClr val="111315"/>
                </a:solidFill>
              </a:defRPr>
            </a:pPr>
            <a:r>
              <a:rPr sz="1725" b="0">
                <a:solidFill>
                  <a:srgbClr val="111315"/>
                </a:solidFill>
              </a:rPr>
              <a:t>vulnerability_type</a:t>
            </a:r>
          </a:p>
          <a:p xmlns:a="http://schemas.openxmlformats.org/drawingml/2006/main">
            <a:pPr>
              <a:defRPr sz="1725" b="0">
                <a:solidFill>
                  <a:srgbClr val="111315"/>
                </a:solidFill>
              </a:defRPr>
            </a:pPr>
            <a:r>
              <a:rPr sz="1725" b="0">
                <a:solidFill>
                  <a:srgbClr val="111315"/>
                </a:solidFill>
              </a:rPr>
              <a:t>severity</a:t>
            </a:r>
          </a:p>
          <a:p xmlns:a="http://schemas.openxmlformats.org/drawingml/2006/main">
            <a:pPr>
              <a:defRPr sz="1725" b="0">
                <a:solidFill>
                  <a:srgbClr val="111315"/>
                </a:solidFill>
              </a:defRPr>
            </a:pPr>
            <a:r>
              <a:rPr sz="1725" b="0">
                <a:solidFill>
                  <a:srgbClr val="111315"/>
                </a:solidFill>
              </a:rPr>
              <a:t>location</a:t>
            </a:r>
          </a:p>
          <a:p xmlns:a="http://schemas.openxmlformats.org/drawingml/2006/main">
            <a:pPr>
              <a:defRPr sz="1725" b="0">
                <a:solidFill>
                  <a:srgbClr val="111315"/>
                </a:solidFill>
              </a:defRPr>
            </a:pPr>
            <a:r>
              <a:rPr sz="1725" b="0">
                <a:solidFill>
                  <a:srgbClr val="111315"/>
                </a:solidFill>
              </a:rPr>
              <a:t>evidence</a:t>
            </a:r>
          </a:p>
          <a:p xmlns:a="http://schemas.openxmlformats.org/drawingml/2006/main">
            <a:pPr>
              <a:defRPr sz="1725" b="0">
                <a:solidFill>
                  <a:srgbClr val="111315"/>
                </a:solidFill>
              </a:defRPr>
            </a:pPr>
            <a:r>
              <a:rPr sz="1725" b="0">
                <a:solidFill>
                  <a:srgbClr val="111315"/>
                </a:solidFill>
              </a:rPr>
              <a:t>finding_confidence</a:t>
            </a:r>
          </a:p>
          <a:p xmlns:a="http://schemas.openxmlformats.org/drawingml/2006/main">
            <a:pPr>
              <a:defRPr sz="1725" b="0">
                <a:solidFill>
                  <a:srgbClr val="111315"/>
                </a:solidFill>
              </a:defRPr>
            </a:pPr>
            <a:r>
              <a:rPr sz="1725" b="0">
                <a:solidFill>
                  <a:srgbClr val="111315"/>
                </a:solidFill>
              </a:rPr>
              <a:t>explanation_confidence</a:t>
            </a:r>
          </a:p>
          <a:p xmlns:a="http://schemas.openxmlformats.org/drawingml/2006/main">
            <a:pPr>
              <a:defRPr sz="1725" b="0">
                <a:solidFill>
                  <a:srgbClr val="111315"/>
                </a:solidFill>
              </a:defRPr>
            </a:pPr>
            <a:r>
              <a:rPr sz="1725" b="0">
                <a:solidFill>
                  <a:srgbClr val="111315"/>
                </a:solidFill>
              </a:rPr>
              <a:t>static_tool_source</a:t>
            </a:r>
          </a:p>
          <a:p xmlns:a="http://schemas.openxmlformats.org/drawingml/2006/main">
            <a:pPr>
              <a:defRPr sz="1725" b="0">
                <a:solidFill>
                  <a:srgbClr val="111315"/>
                </a:solidFill>
              </a:defRPr>
            </a:pPr>
            <a:r>
              <a:rPr sz="1725" b="0">
                <a:solidFill>
                  <a:srgbClr val="111315"/>
                </a:solidFill>
              </a:rPr>
              <a:t>detector_name</a:t>
            </a:r>
          </a:p>
          <a:p xmlns:a="http://schemas.openxmlformats.org/drawingml/2006/main">
            <a:pPr>
              <a:defRPr sz="1725" b="0">
                <a:solidFill>
                  <a:srgbClr val="111315"/>
                </a:solidFill>
              </a:defRPr>
            </a:pPr>
            <a:r>
              <a:rPr sz="1725" b="0">
                <a:solidFill>
                  <a:srgbClr val="111315"/>
                </a:solidFill>
              </a:rPr>
              <a:t>partial</a:t>
            </a:r>
          </a:p>
        </p:txBody>
      </p:sp>
    </p:spTree>
    <p:extLst>
      <p:ext uri="{BB962C8B-B14F-4D97-AF65-F5344CB8AC3E}">
        <p14:creationId xmlns:p14="http://schemas.microsoft.com/office/powerpoint/2010/main" val="51206835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E1F032BA-B69C-4A7B-B845-C520B2C5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6"/>
          </a:solidFill>
          <a:ln xmlns:a="http://schemas.openxmlformats.org/drawingml/2006/main" w="0">
            <a:solidFill>
              <a:srgbClr val="F4F0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CA3946-F2B3-4A05-BA03-76DA78DA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16649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1315"/>
                </a:solidFill>
              </a:defRPr>
            </a:pPr>
            <a:r>
              <a:rPr sz="4050" b="1">
                <a:solidFill>
                  <a:srgbClr val="111315"/>
                </a:solidFill>
              </a:rPr>
              <a:t>技術核心 02：髒資料先清成可檢索知識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DB2AAC-17EF-41FB-999E-D6A2A859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90650"/>
            <a:ext cx="16649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E746F"/>
                </a:solidFill>
              </a:defRPr>
            </a:pPr>
            <a:r>
              <a:rPr sz="1800" b="0">
                <a:solidFill>
                  <a:srgbClr val="6E746F"/>
                </a:solidFill>
              </a:rPr>
              <a:t>公開審計報告常混合 PDF、HTML、Markdown、表格與 Solidity 程式碼。</a:t>
            </a:r>
          </a:p>
        </p:txBody>
      </p:sp>
      <p:sp>
        <p:nvSpPr>
          <p:cNvPr id="4" name="step-1">
            <a:extLst xmlns:a="http://schemas.openxmlformats.org/drawingml/2006/main">
              <a:ext uri="{FF2B5EF4-FFF2-40B4-BE49-F238E27FC236}">
                <a16:creationId xmlns:a16="http://schemas.microsoft.com/office/drawing/2014/main" id="{8CB79E00-7DFA-4F05-97B2-514CE735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9970"/>
            <a:ext cx="8461058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23F658-BE82-4476-B769-1E6D00B3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7952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21A67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43BE05-9C55-41EC-8FC2-D9E9BD50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2430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4A0582-E0CA-4320-854B-20023CA5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71900"/>
            <a:ext cx="7239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315"/>
                </a:solidFill>
              </a:defRPr>
            </a:pPr>
            <a:r>
              <a:rPr sz="1950" b="1">
                <a:solidFill>
                  <a:srgbClr val="111315"/>
                </a:solidFill>
              </a:rPr>
              <a:t>格式偵測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5AF370-1143-4AF6-8A2C-A6A6CC84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15290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E746F"/>
                </a:solidFill>
              </a:defRPr>
            </a:pPr>
            <a:r>
              <a:rPr sz="1425" b="0">
                <a:solidFill>
                  <a:srgbClr val="6E746F"/>
                </a:solidFill>
              </a:rPr>
              <a:t>PDF / HTML / Markdown 分流。</a:t>
            </a:r>
          </a:p>
        </p:txBody>
      </p:sp>
      <p:sp>
        <p:nvSpPr>
          <p:cNvPr id="9" name="step-2">
            <a:extLst xmlns:a="http://schemas.openxmlformats.org/drawingml/2006/main">
              <a:ext uri="{FF2B5EF4-FFF2-40B4-BE49-F238E27FC236}">
                <a16:creationId xmlns:a16="http://schemas.microsoft.com/office/drawing/2014/main" id="{8977D704-E538-4C5A-B73C-4E0C518D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51070"/>
            <a:ext cx="8461058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9D1808-A35E-44CA-B89E-C9E291B0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6062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8FE1"/>
          </a:solidFill>
          <a:ln xmlns:a="http://schemas.openxmlformats.org/drawingml/2006/main" w="0">
            <a:solidFill>
              <a:srgbClr val="1D8F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B104F5-DB92-4146-AF1F-86189182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540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9B39AA-F999-49C4-9451-058D46CC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953000"/>
            <a:ext cx="7239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315"/>
                </a:solidFill>
              </a:defRPr>
            </a:pPr>
            <a:r>
              <a:rPr sz="1950" b="1">
                <a:solidFill>
                  <a:srgbClr val="111315"/>
                </a:solidFill>
              </a:rPr>
              <a:t>程式碼保留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8F7852-5AE6-4B5B-BB4A-FBEF20BE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33400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E746F"/>
                </a:solidFill>
              </a:defRPr>
            </a:pPr>
            <a:r>
              <a:rPr sz="1425" b="0">
                <a:solidFill>
                  <a:srgbClr val="6E746F"/>
                </a:solidFill>
              </a:rPr>
              <a:t>Solidity code block 不在中間切斷。</a:t>
            </a:r>
          </a:p>
        </p:txBody>
      </p:sp>
      <p:sp>
        <p:nvSpPr>
          <p:cNvPr id="14" name="step-3">
            <a:extLst xmlns:a="http://schemas.openxmlformats.org/drawingml/2006/main">
              <a:ext uri="{FF2B5EF4-FFF2-40B4-BE49-F238E27FC236}">
                <a16:creationId xmlns:a16="http://schemas.microsoft.com/office/drawing/2014/main" id="{50B0C1ED-56D4-4EF0-9AAA-CEE3F29A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32170"/>
            <a:ext cx="8461058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B47378-E657-4759-AF21-A3868F0C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14172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0F1FB3-C076-42A8-A234-031BEC9A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8650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0E0643-A54A-41F4-A488-75573C0D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6134100"/>
            <a:ext cx="7239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315"/>
                </a:solidFill>
              </a:defRPr>
            </a:pPr>
            <a:r>
              <a:rPr sz="1950" b="1">
                <a:solidFill>
                  <a:srgbClr val="111315"/>
                </a:solidFill>
              </a:rPr>
              <a:t>Metadata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38E6EE-DE3C-494D-8939-5C777EEF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651510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E746F"/>
                </a:solidFill>
              </a:defRPr>
            </a:pPr>
            <a:r>
              <a:rPr sz="1425" b="0">
                <a:solidFill>
                  <a:srgbClr val="6E746F"/>
                </a:solidFill>
              </a:rPr>
              <a:t>source_id、severity、vuln_type、sha256。</a:t>
            </a:r>
          </a:p>
        </p:txBody>
      </p:sp>
      <p:sp>
        <p:nvSpPr>
          <p:cNvPr id="19" name="step-4">
            <a:extLst xmlns:a="http://schemas.openxmlformats.org/drawingml/2006/main">
              <a:ext uri="{FF2B5EF4-FFF2-40B4-BE49-F238E27FC236}">
                <a16:creationId xmlns:a16="http://schemas.microsoft.com/office/drawing/2014/main" id="{2C801E67-DEC7-4386-A4B0-475B5C82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113270"/>
            <a:ext cx="8461058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CAD88A-AE74-4EF1-97C2-129A6B1C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32282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252"/>
          </a:solidFill>
          <a:ln xmlns:a="http://schemas.openxmlformats.org/drawingml/2006/main" w="0">
            <a:solidFill>
              <a:srgbClr val="E8525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A153EF-FBFC-414C-A990-6C384FBB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46760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61576F-1A02-4199-B6BD-AF03DF31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7315200"/>
            <a:ext cx="7239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315"/>
                </a:solidFill>
              </a:defRPr>
            </a:pPr>
            <a:r>
              <a:rPr sz="1950" b="1">
                <a:solidFill>
                  <a:srgbClr val="111315"/>
                </a:solidFill>
              </a:rPr>
              <a:t>Unknown 搶救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E4ECD1-C690-4CD0-87F0-D5DE5DD7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769620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E746F"/>
                </a:solidFill>
              </a:defRPr>
            </a:pPr>
            <a:r>
              <a:rPr sz="1425" b="0">
                <a:solidFill>
                  <a:srgbClr val="6E746F"/>
                </a:solidFill>
              </a:rPr>
              <a:t>低信心標記 unknown，不污染 eval set。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62796F-0F0D-4612-8EBF-9D934E46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05350"/>
            <a:ext cx="7658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315"/>
                </a:solidFill>
              </a:defRPr>
            </a:pPr>
            <a:r>
              <a:rPr sz="2400" b="1">
                <a:solidFill>
                  <a:srgbClr val="111315"/>
                </a:solidFill>
              </a:rPr>
              <a:t>RAG 模式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29BFB5-709B-4CC7-945E-3948AE22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295900"/>
            <a:ext cx="76581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315"/>
                </a:solidFill>
              </a:defRPr>
            </a:pPr>
            <a:r>
              <a:rPr sz="1875" b="0">
                <a:solidFill>
                  <a:srgbClr val="111315"/>
                </a:solidFill>
              </a:rPr>
              <a:t>quality  : BM25 50 + Dense 50 → top 5</a:t>
            </a:r>
          </a:p>
          <a:p xmlns:a="http://schemas.openxmlformats.org/drawingml/2006/main">
            <a:pPr>
              <a:defRPr sz="1875" b="0">
                <a:solidFill>
                  <a:srgbClr val="111315"/>
                </a:solidFill>
              </a:defRPr>
            </a:pPr>
            <a:r>
              <a:rPr sz="1875" b="0">
                <a:solidFill>
                  <a:srgbClr val="111315"/>
                </a:solidFill>
              </a:rPr>
              <a:t>balanced : BM25 30 + Dense 30 → top 3</a:t>
            </a:r>
          </a:p>
          <a:p xmlns:a="http://schemas.openxmlformats.org/drawingml/2006/main">
            <a:pPr>
              <a:defRPr sz="1875" b="0">
                <a:solidFill>
                  <a:srgbClr val="111315"/>
                </a:solidFill>
              </a:defRPr>
            </a:pPr>
            <a:r>
              <a:rPr sz="1875" b="0">
                <a:solidFill>
                  <a:srgbClr val="111315"/>
                </a:solidFill>
              </a:rPr>
              <a:t>fast     : BM25 20 + Dense 20 → top 3</a:t>
            </a:r>
          </a:p>
          <a:p xmlns:a="http://schemas.openxmlformats.org/drawingml/2006/main">
            <a:pPr>
              <a:defRPr sz="1875" b="0">
                <a:solidFill>
                  <a:srgbClr val="111315"/>
                </a:solidFill>
              </a:defRPr>
            </a:pPr>
            <a:r>
              <a:rPr sz="1875" b="0">
                <a:solidFill>
                  <a:srgbClr val="111315"/>
                </a:solidFill>
              </a:rPr>
              <a:t>fallback : BM25 20 only     → top 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4BEA44-8452-491D-A8F6-E61C1CC4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667500"/>
            <a:ext cx="7658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1A67A"/>
                </a:solidFill>
              </a:defRPr>
            </a:pPr>
            <a:r>
              <a:rPr sz="2100" b="1">
                <a:solidFill>
                  <a:srgbClr val="21A67A"/>
                </a:solidFill>
              </a:rPr>
              <a:t>目前 fixture 評測 recall@k = 1.0</a:t>
            </a:r>
          </a:p>
        </p:txBody>
      </p:sp>
    </p:spTree>
    <p:extLst>
      <p:ext uri="{BB962C8B-B14F-4D97-AF65-F5344CB8AC3E}">
        <p14:creationId xmlns:p14="http://schemas.microsoft.com/office/powerpoint/2010/main" val="202586752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093F8062-4E36-4140-A8C9-3A079D49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6"/>
          </a:solidFill>
          <a:ln xmlns:a="http://schemas.openxmlformats.org/drawingml/2006/main" w="0">
            <a:solidFill>
              <a:srgbClr val="F4F0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A6548C-E0FC-4D12-99D2-A924F8C2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85800"/>
            <a:ext cx="16649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1315"/>
                </a:solidFill>
              </a:defRPr>
            </a:pPr>
            <a:r>
              <a:rPr sz="4050" b="1">
                <a:solidFill>
                  <a:srgbClr val="111315"/>
                </a:solidFill>
              </a:rPr>
              <a:t>技術核心 03：Apple MLX-ready 本地推理策略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9C926C-8A41-4CCD-BA96-25425648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09700"/>
            <a:ext cx="16649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E746F"/>
                </a:solidFill>
              </a:defRPr>
            </a:pPr>
            <a:r>
              <a:rPr sz="1800" b="0">
                <a:solidFill>
                  <a:srgbClr val="6E746F"/>
                </a:solidFill>
              </a:rPr>
              <a:t>在 16GB MacBook Pro 環境下，設計重點是逐 finding 生成、4-bit 權重與可降級流程。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8325D2-E610-4774-BC85-AA883C53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14800"/>
            <a:ext cx="80581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1A67A"/>
                </a:solidFill>
              </a:defRPr>
            </a:pPr>
            <a:r>
              <a:rPr sz="4350" b="1">
                <a:solidFill>
                  <a:srgbClr val="21A67A"/>
                </a:solidFill>
              </a:rPr>
              <a:t>4.0 GB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0164A9-9DCE-40F6-9642-BCE177B5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805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E746F"/>
                </a:solidFill>
              </a:defRPr>
            </a:pPr>
            <a:r>
              <a:rPr sz="1500" b="0">
                <a:solidFill>
                  <a:srgbClr val="6E746F"/>
                </a:solidFill>
              </a:rPr>
              <a:t>8B 4-bit 權重估算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A1E74D-B713-4511-BE90-57761CC5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72100"/>
            <a:ext cx="80581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D8FE1"/>
                </a:solidFill>
              </a:defRPr>
            </a:pPr>
            <a:r>
              <a:rPr sz="4350" b="1">
                <a:solidFill>
                  <a:srgbClr val="1D8FE1"/>
                </a:solidFill>
              </a:rPr>
              <a:t>1024 tokens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2E84D1-765C-44C1-951E-BEA86C4F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34100"/>
            <a:ext cx="805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E746F"/>
                </a:solidFill>
              </a:defRPr>
            </a:pPr>
            <a:r>
              <a:rPr sz="1500" b="0">
                <a:solidFill>
                  <a:srgbClr val="6E746F"/>
                </a:solidFill>
              </a:rPr>
              <a:t>單 finding 輸出上限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BC9B1F-6668-45AB-9E13-785EDB35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29400"/>
            <a:ext cx="80581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4B942"/>
                </a:solidFill>
              </a:defRPr>
            </a:pPr>
            <a:r>
              <a:rPr sz="4350" b="1">
                <a:solidFill>
                  <a:srgbClr val="F4B942"/>
                </a:solidFill>
              </a:rPr>
              <a:t>51.6 MiB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B0461F-6E6A-419B-AE8D-D8AABA6E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391400"/>
            <a:ext cx="805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E746F"/>
                </a:solidFill>
              </a:defRPr>
            </a:pPr>
            <a:r>
              <a:rPr sz="1500" b="0">
                <a:solidFill>
                  <a:srgbClr val="6E746F"/>
                </a:solidFill>
              </a:rPr>
              <a:t>E2E 記憶體峰值</a:t>
            </a:r>
          </a:p>
        </p:txBody>
      </p:sp>
      <p:sp>
        <p:nvSpPr>
          <p:cNvPr id="10" name="step-1">
            <a:extLst xmlns:a="http://schemas.openxmlformats.org/drawingml/2006/main">
              <a:ext uri="{FF2B5EF4-FFF2-40B4-BE49-F238E27FC236}">
                <a16:creationId xmlns:a16="http://schemas.microsoft.com/office/drawing/2014/main" id="{2AB26D69-BA68-4D59-924E-CC94C427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89020"/>
            <a:ext cx="80581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694466-21E1-47A3-A014-76BA8643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79857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21A67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FEF93B-0CAA-47F5-BB3F-62B6ED6F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94335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CCA286-0C66-469E-A0CD-07346322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790950"/>
            <a:ext cx="6838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315"/>
                </a:solidFill>
              </a:defRPr>
            </a:pPr>
            <a:r>
              <a:rPr sz="1950" b="1">
                <a:solidFill>
                  <a:srgbClr val="111315"/>
                </a:solidFill>
              </a:rPr>
              <a:t>80s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AC829E-0C6E-4476-B31D-620968F1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171950"/>
            <a:ext cx="6838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E746F"/>
                </a:solidFill>
              </a:defRPr>
            </a:pPr>
            <a:r>
              <a:rPr sz="1425" b="0">
                <a:solidFill>
                  <a:srgbClr val="6E746F"/>
                </a:solidFill>
              </a:rPr>
              <a:t>後續 finding 強制 fast mode。</a:t>
            </a:r>
          </a:p>
        </p:txBody>
      </p:sp>
      <p:sp>
        <p:nvSpPr>
          <p:cNvPr id="15" name="step-2">
            <a:extLst xmlns:a="http://schemas.openxmlformats.org/drawingml/2006/main">
              <a:ext uri="{FF2B5EF4-FFF2-40B4-BE49-F238E27FC236}">
                <a16:creationId xmlns:a16="http://schemas.microsoft.com/office/drawing/2014/main" id="{9E9B721A-D92F-4F83-BA55-A29C388B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770120"/>
            <a:ext cx="80581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B8BE55-3E0D-4768-8489-9987BEE7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97967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8FE1"/>
          </a:solidFill>
          <a:ln xmlns:a="http://schemas.openxmlformats.org/drawingml/2006/main" w="0">
            <a:solidFill>
              <a:srgbClr val="1D8F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6BB3CD-EC4F-4336-86A1-0CAC68AA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12445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7CBE0E-7BB8-41E5-9476-E8DA9696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972050"/>
            <a:ext cx="6838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315"/>
                </a:solidFill>
              </a:defRPr>
            </a:pPr>
            <a:r>
              <a:rPr sz="1950" b="1">
                <a:solidFill>
                  <a:srgbClr val="111315"/>
                </a:solidFill>
              </a:rPr>
              <a:t>100s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B9A7A7-88EE-4437-8F2D-62C801CC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353050"/>
            <a:ext cx="6838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E746F"/>
                </a:solidFill>
              </a:defRPr>
            </a:pPr>
            <a:r>
              <a:rPr sz="1425" b="0">
                <a:solidFill>
                  <a:srgbClr val="6E746F"/>
                </a:solidFill>
              </a:rPr>
              <a:t>後續 finding 強制 fallback mode。</a:t>
            </a:r>
          </a:p>
        </p:txBody>
      </p:sp>
      <p:sp>
        <p:nvSpPr>
          <p:cNvPr id="20" name="step-3">
            <a:extLst xmlns:a="http://schemas.openxmlformats.org/drawingml/2006/main">
              <a:ext uri="{FF2B5EF4-FFF2-40B4-BE49-F238E27FC236}">
                <a16:creationId xmlns:a16="http://schemas.microsoft.com/office/drawing/2014/main" id="{98E1F0D5-1A39-4927-A001-12EB55ED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951220"/>
            <a:ext cx="80581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AB616E-EA9F-4618-AD1E-94385E29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16077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252"/>
          </a:solidFill>
          <a:ln xmlns:a="http://schemas.openxmlformats.org/drawingml/2006/main" w="0">
            <a:solidFill>
              <a:srgbClr val="E8525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3CDA10-4169-4360-B060-598C1525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30555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C9DB44-39D2-46D0-B31B-9A9FE4A7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153150"/>
            <a:ext cx="6838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315"/>
                </a:solidFill>
              </a:defRPr>
            </a:pPr>
            <a:r>
              <a:rPr sz="1950" b="1">
                <a:solidFill>
                  <a:srgbClr val="111315"/>
                </a:solidFill>
              </a:rPr>
              <a:t>115s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3CC3BC-7CBA-4A81-9405-911A087B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6838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E746F"/>
                </a:solidFill>
              </a:defRPr>
            </a:pPr>
            <a:r>
              <a:rPr sz="1425" b="0">
                <a:solidFill>
                  <a:srgbClr val="6E746F"/>
                </a:solidFill>
              </a:rPr>
              <a:t>停止 LLM 生成，輸出 deterministic findings。</a:t>
            </a:r>
          </a:p>
        </p:txBody>
      </p:sp>
      <p:sp>
        <p:nvSpPr>
          <p:cNvPr id="25" name="step-4">
            <a:extLst xmlns:a="http://schemas.openxmlformats.org/drawingml/2006/main">
              <a:ext uri="{FF2B5EF4-FFF2-40B4-BE49-F238E27FC236}">
                <a16:creationId xmlns:a16="http://schemas.microsoft.com/office/drawing/2014/main" id="{C7220FE9-8A95-4C87-8472-2654AC89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132320"/>
            <a:ext cx="80581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CAE57A-9510-496B-BD33-B3DA1385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734187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D8B88D-18E9-46A4-9E13-C8A9253F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748665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689239-6457-428C-B1BE-3F0F3304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334250"/>
            <a:ext cx="6838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315"/>
                </a:solidFill>
              </a:defRPr>
            </a:pPr>
            <a:r>
              <a:rPr sz="1950" b="1">
                <a:solidFill>
                  <a:srgbClr val="111315"/>
                </a:solidFill>
              </a:rPr>
              <a:t>timeout 測試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619356-88E9-4AA7-B63B-6B79112A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715250"/>
            <a:ext cx="6838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E746F"/>
                </a:solidFill>
              </a:defRPr>
            </a:pPr>
            <a:r>
              <a:rPr sz="1425" b="0">
                <a:solidFill>
                  <a:srgbClr val="6E746F"/>
                </a:solidFill>
              </a:rPr>
              <a:t>模擬 116s 會輸出 partial_analysis。</a:t>
            </a:r>
          </a:p>
        </p:txBody>
      </p:sp>
    </p:spTree>
    <p:extLst>
      <p:ext uri="{BB962C8B-B14F-4D97-AF65-F5344CB8AC3E}">
        <p14:creationId xmlns:p14="http://schemas.microsoft.com/office/powerpoint/2010/main" val="123849711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3579A351-0A92-40B9-8969-238085D0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6"/>
          </a:solidFill>
          <a:ln xmlns:a="http://schemas.openxmlformats.org/drawingml/2006/main" w="0">
            <a:solidFill>
              <a:srgbClr val="F4F0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4175C9-ED5F-4D6F-8E8E-4C2CAC71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16649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1315"/>
                </a:solidFill>
              </a:defRPr>
            </a:pPr>
            <a:r>
              <a:rPr sz="4050" b="1">
                <a:solidFill>
                  <a:srgbClr val="111315"/>
                </a:solidFill>
              </a:rPr>
              <a:t>技術核心 04：Trace 讓每個 finding 可回放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52945F-A79A-4FA9-90C7-1D74893E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90650"/>
            <a:ext cx="16649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E746F"/>
                </a:solidFill>
              </a:defRPr>
            </a:pPr>
            <a:r>
              <a:rPr sz="1800" b="0">
                <a:solidFill>
                  <a:srgbClr val="6E746F"/>
                </a:solidFill>
              </a:rPr>
              <a:t>這是審計輔助工具的信任基礎：任何結論都能查回來源、prompt 與輸出。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6BA38D-CE68-4DB3-8301-B429AB5C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4000500" cy="2743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1315"/>
                </a:solidFill>
              </a:defRPr>
            </a:pPr>
            <a:r>
              <a:rPr sz="2250" b="0">
                <a:solidFill>
                  <a:srgbClr val="111315"/>
                </a:solidFill>
              </a:rPr>
              <a:t>finding_id</a:t>
            </a:r>
          </a:p>
          <a:p xmlns:a="http://schemas.openxmlformats.org/drawingml/2006/main">
            <a:pPr>
              <a:defRPr sz="2250" b="0">
                <a:solidFill>
                  <a:srgbClr val="111315"/>
                </a:solidFill>
              </a:defRPr>
            </a:pPr>
            <a:r>
              <a:rPr sz="2250" b="0">
                <a:solidFill>
                  <a:srgbClr val="111315"/>
                </a:solidFill>
              </a:rPr>
              <a:t>  → slither_raw</a:t>
            </a:r>
          </a:p>
          <a:p xmlns:a="http://schemas.openxmlformats.org/drawingml/2006/main">
            <a:pPr>
              <a:defRPr sz="2250" b="0">
                <a:solidFill>
                  <a:srgbClr val="111315"/>
                </a:solidFill>
              </a:defRPr>
            </a:pPr>
            <a:r>
              <a:rPr sz="2250" b="0">
                <a:solidFill>
                  <a:srgbClr val="111315"/>
                </a:solidFill>
              </a:rPr>
              <a:t>  → normalized FindingSchema</a:t>
            </a:r>
          </a:p>
          <a:p xmlns:a="http://schemas.openxmlformats.org/drawingml/2006/main">
            <a:pPr>
              <a:defRPr sz="2250" b="0">
                <a:solidFill>
                  <a:srgbClr val="111315"/>
                </a:solidFill>
              </a:defRPr>
            </a:pPr>
            <a:r>
              <a:rPr sz="2250" b="0">
                <a:solidFill>
                  <a:srgbClr val="111315"/>
                </a:solidFill>
              </a:rPr>
              <a:t>  → rag_chunk_ids</a:t>
            </a:r>
          </a:p>
          <a:p xmlns:a="http://schemas.openxmlformats.org/drawingml/2006/main">
            <a:pPr>
              <a:defRPr sz="2250" b="0">
                <a:solidFill>
                  <a:srgbClr val="111315"/>
                </a:solidFill>
              </a:defRPr>
            </a:pPr>
            <a:r>
              <a:rPr sz="2250" b="0">
                <a:solidFill>
                  <a:srgbClr val="111315"/>
                </a:solidFill>
              </a:rPr>
              <a:t>  → packed_prompt</a:t>
            </a:r>
          </a:p>
          <a:p xmlns:a="http://schemas.openxmlformats.org/drawingml/2006/main">
            <a:pPr>
              <a:defRPr sz="2250" b="0">
                <a:solidFill>
                  <a:srgbClr val="111315"/>
                </a:solidFill>
              </a:defRPr>
            </a:pPr>
            <a:r>
              <a:rPr sz="2250" b="0">
                <a:solidFill>
                  <a:srgbClr val="111315"/>
                </a:solidFill>
              </a:rPr>
              <a:t>  → llm_raw_output</a:t>
            </a:r>
          </a:p>
          <a:p xmlns:a="http://schemas.openxmlformats.org/drawingml/2006/main">
            <a:pPr>
              <a:defRPr sz="2250" b="0">
                <a:solidFill>
                  <a:srgbClr val="111315"/>
                </a:solidFill>
              </a:defRPr>
            </a:pPr>
            <a:r>
              <a:rPr sz="2250" b="0">
                <a:solidFill>
                  <a:srgbClr val="111315"/>
                </a:solidFill>
              </a:rPr>
              <a:t>  → final report field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2C28051B-A49C-4018-8749-8EEA674F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3230" y="4122420"/>
            <a:ext cx="686562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04236E-7D05-4C91-80EA-94761B5E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0880" y="433197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21A6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13520D-4228-4F68-8529-528A74EA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47675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366D1F-5C2F-488A-A376-002D069F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324350"/>
            <a:ext cx="5638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315"/>
                </a:solidFill>
              </a:defRPr>
            </a:pPr>
            <a:r>
              <a:rPr sz="1950" b="1">
                <a:solidFill>
                  <a:srgbClr val="111315"/>
                </a:solidFill>
              </a:rPr>
              <a:t>analysis_trace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92779A-E98D-4FAA-8781-7DFF0B49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705350"/>
            <a:ext cx="5638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E746F"/>
                </a:solidFill>
              </a:defRPr>
            </a:pPr>
            <a:r>
              <a:rPr sz="1425" b="0">
                <a:solidFill>
                  <a:srgbClr val="6E746F"/>
                </a:solidFill>
              </a:rPr>
              <a:t>contract_id、model_version、dataset_version、final_status。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20B8559D-1C9C-4BA7-A3B7-D8757A67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3230" y="5341620"/>
            <a:ext cx="686562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0C7A52-4228-4AAC-94B5-BC9CD51A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0880" y="555117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8FE1"/>
          </a:solidFill>
          <a:ln xmlns:a="http://schemas.openxmlformats.org/drawingml/2006/main" w="0">
            <a:solidFill>
              <a:srgbClr val="1D8F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BE68EF-B57C-4735-A1CA-F7A4A595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69595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15A632-F1C0-4BA6-845D-4E464160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543550"/>
            <a:ext cx="5638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315"/>
                </a:solidFill>
              </a:defRPr>
            </a:pPr>
            <a:r>
              <a:rPr sz="1950" b="1">
                <a:solidFill>
                  <a:srgbClr val="111315"/>
                </a:solidFill>
              </a:rPr>
              <a:t>trace_findings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9AF097-DC33-48B1-858D-49739A49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924550"/>
            <a:ext cx="5638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E746F"/>
                </a:solidFill>
              </a:defRPr>
            </a:pPr>
            <a:r>
              <a:rPr sz="1425" b="0">
                <a:solidFill>
                  <a:srgbClr val="6E746F"/>
                </a:solidFill>
              </a:rPr>
              <a:t>per-finding rag_mode、耗時、chunks_used。</a:t>
            </a:r>
          </a:p>
        </p:txBody>
      </p:sp>
      <p:sp>
        <p:nvSpPr>
          <p:cNvPr id="15" name="step-3">
            <a:extLst xmlns:a="http://schemas.openxmlformats.org/drawingml/2006/main">
              <a:ext uri="{FF2B5EF4-FFF2-40B4-BE49-F238E27FC236}">
                <a16:creationId xmlns:a16="http://schemas.microsoft.com/office/drawing/2014/main" id="{200F86C7-9388-4DDB-839D-73C6BE0D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3230" y="6560820"/>
            <a:ext cx="686562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768D34-2C65-4292-A2DB-5782AA3C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0880" y="677037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1F4799-A102-4D27-905E-268E266A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91515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7C16EC-32C2-4DF0-9779-AAC77EB8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762750"/>
            <a:ext cx="5638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315"/>
                </a:solidFill>
              </a:defRPr>
            </a:pPr>
            <a:r>
              <a:rPr sz="1950" b="1">
                <a:solidFill>
                  <a:srgbClr val="111315"/>
                </a:solidFill>
              </a:rPr>
              <a:t>trace_lookup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A815A9-D372-41B8-B84F-76DF9B0C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7143750"/>
            <a:ext cx="5638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E746F"/>
                </a:solidFill>
              </a:defRPr>
            </a:pPr>
            <a:r>
              <a:rPr sz="1425" b="0">
                <a:solidFill>
                  <a:srgbClr val="6E746F"/>
                </a:solidFill>
              </a:rPr>
              <a:t>CLI 查詢，支援定位單一 finding。</a:t>
            </a:r>
          </a:p>
        </p:txBody>
      </p:sp>
    </p:spTree>
    <p:extLst>
      <p:ext uri="{BB962C8B-B14F-4D97-AF65-F5344CB8AC3E}">
        <p14:creationId xmlns:p14="http://schemas.microsoft.com/office/powerpoint/2010/main" val="106479900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3244E598-FC17-4CF8-A65B-3F8A7E45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6"/>
          </a:solidFill>
          <a:ln xmlns:a="http://schemas.openxmlformats.org/drawingml/2006/main" w="0">
            <a:solidFill>
              <a:srgbClr val="F4F0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0E5EC9-F31F-47B8-A06E-58F7E035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16687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1315"/>
                </a:solidFill>
              </a:defRPr>
            </a:pPr>
            <a:r>
              <a:rPr sz="4050" b="1">
                <a:solidFill>
                  <a:srgbClr val="111315"/>
                </a:solidFill>
              </a:rPr>
              <a:t>實際案例：VulnerableVault Reentrancy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3282F6-D936-4BF1-A5FC-AE408F0A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6687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E746F"/>
                </a:solidFill>
              </a:defRPr>
            </a:pPr>
            <a:r>
              <a:rPr sz="1800" b="0">
                <a:solidFill>
                  <a:srgbClr val="6E746F"/>
                </a:solidFill>
              </a:rPr>
              <a:t>Slither 在測試合約中找到 `reentrancy-eth`，並映射成正式報告 finding。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C1B581-74DC-4512-8B1F-91D3B2D3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2640"/>
            <a:ext cx="8143875" cy="7547610"/>
          </a:xfrm>
          <a:prstGeom xmlns:a="http://schemas.openxmlformats.org/drawingml/2006/main" prst="roundRect">
            <a:avLst>
              <a:gd name="adj" fmla="val 1010"/>
            </a:avLst>
          </a:prstGeom>
          <a:solidFill xmlns:a="http://schemas.openxmlformats.org/drawingml/2006/main">
            <a:srgbClr val="18201D"/>
          </a:solidFill>
          <a:ln xmlns:a="http://schemas.openxmlformats.org/drawingml/2006/main" w="0">
            <a:solidFill>
              <a:srgbClr val="18201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865356-FFD0-4C45-847F-BB24369F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762000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7F8EE"/>
                </a:solidFill>
              </a:defRPr>
            </a:pPr>
            <a:r>
              <a:rPr sz="1725" b="0">
                <a:solidFill>
                  <a:srgbClr val="E7F8EE"/>
                </a:solidFill>
              </a:rPr>
              <a:t>function withdraw() external {</a:t>
            </a:r>
          </a:p>
          <a:p xmlns:a="http://schemas.openxmlformats.org/drawingml/2006/main">
            <a:pPr>
              <a:defRPr sz="1725" b="0">
                <a:solidFill>
                  <a:srgbClr val="E7F8EE"/>
                </a:solidFill>
              </a:defRPr>
            </a:pPr>
            <a:r>
              <a:rPr sz="1725" b="0">
                <a:solidFill>
                  <a:srgbClr val="E7F8EE"/>
                </a:solidFill>
              </a:rPr>
              <a:t>  uint256 amount = balances[msg.sender];</a:t>
            </a:r>
          </a:p>
          <a:p xmlns:a="http://schemas.openxmlformats.org/drawingml/2006/main">
            <a:pPr>
              <a:defRPr sz="1725" b="0">
                <a:solidFill>
                  <a:srgbClr val="E7F8EE"/>
                </a:solidFill>
              </a:defRPr>
            </a:pPr>
            <a:r>
              <a:rPr sz="1725" b="0">
                <a:solidFill>
                  <a:srgbClr val="E7F8EE"/>
                </a:solidFill>
              </a:rPr>
              <a:t>  (bool success,) = msg.sender.call{value: amount}("");</a:t>
            </a:r>
          </a:p>
          <a:p xmlns:a="http://schemas.openxmlformats.org/drawingml/2006/main">
            <a:pPr>
              <a:defRPr sz="1725" b="0">
                <a:solidFill>
                  <a:srgbClr val="E7F8EE"/>
                </a:solidFill>
              </a:defRPr>
            </a:pPr>
            <a:r>
              <a:rPr sz="1725" b="0">
                <a:solidFill>
                  <a:srgbClr val="E7F8EE"/>
                </a:solidFill>
              </a:rPr>
              <a:t>  require(success, "transfer failed");</a:t>
            </a:r>
          </a:p>
          <a:p xmlns:a="http://schemas.openxmlformats.org/drawingml/2006/main">
            <a:pPr>
              <a:defRPr sz="1725" b="0">
                <a:solidFill>
                  <a:srgbClr val="E7F8EE"/>
                </a:solidFill>
              </a:defRPr>
            </a:pPr>
            <a:r>
              <a:rPr sz="1725" b="0">
                <a:solidFill>
                  <a:srgbClr val="E7F8EE"/>
                </a:solidFill>
              </a:rPr>
              <a:t>  balances[msg.sender] = 0;</a:t>
            </a:r>
          </a:p>
          <a:p xmlns:a="http://schemas.openxmlformats.org/drawingml/2006/main">
            <a:pPr>
              <a:defRPr sz="1725" b="0">
                <a:solidFill>
                  <a:srgbClr val="E7F8EE"/>
                </a:solidFill>
              </a:defRPr>
            </a:pPr>
            <a:r>
              <a:rPr sz="1725" b="0">
                <a:solidFill>
                  <a:srgbClr val="E7F8EE"/>
                </a:solidFill>
              </a:rPr>
              <a:t>}</a:t>
            </a:r>
          </a:p>
        </p:txBody>
      </p:sp>
      <p:sp>
        <p:nvSpPr>
          <p:cNvPr id="6" name="step-1">
            <a:extLst xmlns:a="http://schemas.openxmlformats.org/drawingml/2006/main">
              <a:ext uri="{FF2B5EF4-FFF2-40B4-BE49-F238E27FC236}">
                <a16:creationId xmlns:a16="http://schemas.microsoft.com/office/drawing/2014/main" id="{F8875017-3045-4CA1-BCEF-DA746084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484245"/>
            <a:ext cx="8143875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2466D-8149-4D5C-B5D0-D90B2647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693795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252"/>
          </a:solidFill>
          <a:ln xmlns:a="http://schemas.openxmlformats.org/drawingml/2006/main" w="0">
            <a:solidFill>
              <a:srgbClr val="E8525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CD5719-937C-4AA4-91D7-61EF6609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82905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DEAA5E-1AB7-4BC4-98F9-E9AC6F4E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695700"/>
            <a:ext cx="6934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315"/>
                </a:solidFill>
              </a:defRPr>
            </a:pPr>
            <a:r>
              <a:rPr sz="1950" b="1">
                <a:solidFill>
                  <a:srgbClr val="111315"/>
                </a:solidFill>
              </a:rPr>
              <a:t>偵測器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244004-6C2F-448E-82BC-99D87AF9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057650"/>
            <a:ext cx="6934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E746F"/>
                </a:solidFill>
              </a:defRPr>
            </a:pPr>
            <a:r>
              <a:rPr sz="1425" b="0">
                <a:solidFill>
                  <a:srgbClr val="6E746F"/>
                </a:solidFill>
              </a:rPr>
              <a:t>reentrancy-eth</a:t>
            </a:r>
          </a:p>
        </p:txBody>
      </p:sp>
      <p:sp>
        <p:nvSpPr>
          <p:cNvPr id="11" name="step-2">
            <a:extLst xmlns:a="http://schemas.openxmlformats.org/drawingml/2006/main">
              <a:ext uri="{FF2B5EF4-FFF2-40B4-BE49-F238E27FC236}">
                <a16:creationId xmlns:a16="http://schemas.microsoft.com/office/drawing/2014/main" id="{6B03A059-D808-49C6-A3F8-C8EA03EE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722495"/>
            <a:ext cx="8143875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26B1F9-67E9-4E1C-91E9-2FB79A7B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4932045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8FE1"/>
          </a:solidFill>
          <a:ln xmlns:a="http://schemas.openxmlformats.org/drawingml/2006/main" w="0">
            <a:solidFill>
              <a:srgbClr val="1D8F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6F4FB1-D189-491E-AB9F-D9952C8F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06730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A9AC34-188E-4733-AEAF-CD1E9242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933950"/>
            <a:ext cx="6934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315"/>
                </a:solidFill>
              </a:defRPr>
            </a:pPr>
            <a:r>
              <a:rPr sz="1950" b="1">
                <a:solidFill>
                  <a:srgbClr val="111315"/>
                </a:solidFill>
              </a:rPr>
              <a:t>位置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99AF54-692B-4DE2-976B-D99AF941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314950"/>
            <a:ext cx="6934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E746F"/>
                </a:solidFill>
              </a:defRPr>
            </a:pPr>
            <a:r>
              <a:rPr sz="1425" b="0">
                <a:solidFill>
                  <a:srgbClr val="6E746F"/>
                </a:solidFill>
              </a:rPr>
              <a:t>tests/contracts/VulnerableVault.sol:11-16</a:t>
            </a:r>
          </a:p>
        </p:txBody>
      </p:sp>
      <p:sp>
        <p:nvSpPr>
          <p:cNvPr id="16" name="step-3">
            <a:extLst xmlns:a="http://schemas.openxmlformats.org/drawingml/2006/main">
              <a:ext uri="{FF2B5EF4-FFF2-40B4-BE49-F238E27FC236}">
                <a16:creationId xmlns:a16="http://schemas.microsoft.com/office/drawing/2014/main" id="{B18E9D94-1D13-4CC9-AF3A-2B1C2CEA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5960745"/>
            <a:ext cx="8143875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35C2CE-04FA-4AF7-8269-15AB39B4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6170295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778FDB-2A96-47C6-B687-4D259EE7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0555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877223-BAD4-4EB6-8699-81D6A89C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6172200"/>
            <a:ext cx="6934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315"/>
                </a:solidFill>
              </a:defRPr>
            </a:pPr>
            <a:r>
              <a:rPr sz="1950" b="1">
                <a:solidFill>
                  <a:srgbClr val="111315"/>
                </a:solidFill>
              </a:rPr>
              <a:t>風險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CA12BA-725B-4BBD-BC3B-A5CDCC24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6553200"/>
            <a:ext cx="6934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E746F"/>
                </a:solidFill>
              </a:defRPr>
            </a:pPr>
            <a:r>
              <a:rPr sz="1425" b="0">
                <a:solidFill>
                  <a:srgbClr val="6E746F"/>
                </a:solidFill>
              </a:rPr>
              <a:t>外部 call 發生在 balances[msg.sender] = 0 之前。</a:t>
            </a:r>
          </a:p>
        </p:txBody>
      </p:sp>
      <p:sp>
        <p:nvSpPr>
          <p:cNvPr id="21" name="step-4">
            <a:extLst xmlns:a="http://schemas.openxmlformats.org/drawingml/2006/main">
              <a:ext uri="{FF2B5EF4-FFF2-40B4-BE49-F238E27FC236}">
                <a16:creationId xmlns:a16="http://schemas.microsoft.com/office/drawing/2014/main" id="{22B194AD-F1D6-4A8A-B2CC-C0C3F734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7198995"/>
            <a:ext cx="8143875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34FBF7-D746-41C7-89E7-1D0E2A50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7408545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21A67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D272E4-27FD-45A8-A7EC-7EA5DF8E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754380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88E756-E744-4B56-8ADA-C1FF5CFA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7410450"/>
            <a:ext cx="6934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315"/>
                </a:solidFill>
              </a:defRPr>
            </a:pPr>
            <a:r>
              <a:rPr sz="1950" b="1">
                <a:solidFill>
                  <a:srgbClr val="111315"/>
                </a:solidFill>
              </a:rPr>
              <a:t>建議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025E84-D395-4374-B160-E9CA8559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7791450"/>
            <a:ext cx="6934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E746F"/>
                </a:solidFill>
              </a:defRPr>
            </a:pPr>
            <a:r>
              <a:rPr sz="1425" b="0">
                <a:solidFill>
                  <a:srgbClr val="6E746F"/>
                </a:solidFill>
              </a:rPr>
              <a:t>checks-effects-interactions + nonReentrant。</a:t>
            </a:r>
          </a:p>
        </p:txBody>
      </p:sp>
    </p:spTree>
    <p:extLst>
      <p:ext uri="{BB962C8B-B14F-4D97-AF65-F5344CB8AC3E}">
        <p14:creationId xmlns:p14="http://schemas.microsoft.com/office/powerpoint/2010/main" val="200656332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0368D630-7A51-4766-9BCC-89CAFF0B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6"/>
          </a:solidFill>
          <a:ln xmlns:a="http://schemas.openxmlformats.org/drawingml/2006/main" w="0">
            <a:solidFill>
              <a:srgbClr val="F4F0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5E0210-5151-40B1-B7B0-A5E3FFB8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"/>
            <a:ext cx="168402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1315"/>
                </a:solidFill>
              </a:defRPr>
            </a:pPr>
            <a:r>
              <a:rPr sz="4050" b="1">
                <a:solidFill>
                  <a:srgbClr val="111315"/>
                </a:solidFill>
              </a:rPr>
              <a:t>驗收結果：已通過的品質門檻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9669F9-8744-4479-BC37-42E638A6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71600"/>
            <a:ext cx="16840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E746F"/>
                </a:solidFill>
              </a:defRPr>
            </a:pPr>
            <a:r>
              <a:rPr sz="1800" b="0">
                <a:solidFill>
                  <a:srgbClr val="6E746F"/>
                </a:solidFill>
              </a:rPr>
              <a:t>這份展示不是設計稿假資料，而是讀取本專案實際測試結果。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99ABF7-9727-43B9-B340-3BCBF362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40386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1A67A"/>
                </a:solidFill>
              </a:defRPr>
            </a:pPr>
            <a:r>
              <a:rPr sz="4350" b="1">
                <a:solidFill>
                  <a:srgbClr val="21A67A"/>
                </a:solidFill>
              </a:rPr>
              <a:t>10 passed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5116B5-4D02-4752-8A88-F07A8BEA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403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E746F"/>
                </a:solidFill>
              </a:defRPr>
            </a:pPr>
            <a:r>
              <a:rPr sz="1500" b="0">
                <a:solidFill>
                  <a:srgbClr val="6E746F"/>
                </a:solidFill>
              </a:rPr>
              <a:t>pytest 全量回歸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EEEB2F-57BA-4524-979D-B05B4D97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81200"/>
            <a:ext cx="40386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D8FE1"/>
                </a:solidFill>
              </a:defRPr>
            </a:pPr>
            <a:r>
              <a:rPr sz="4350" b="1">
                <a:solidFill>
                  <a:srgbClr val="1D8FE1"/>
                </a:solidFill>
              </a:rPr>
              <a:t>All passed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A766C-CB89-412A-98EB-9D43C506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43200"/>
            <a:ext cx="403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E746F"/>
                </a:solidFill>
              </a:defRPr>
            </a:pPr>
            <a:r>
              <a:rPr sz="1500" b="0">
                <a:solidFill>
                  <a:srgbClr val="6E746F"/>
                </a:solidFill>
              </a:rPr>
              <a:t>ruff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1419D7-D97A-4D52-BBFB-D142737E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81200"/>
            <a:ext cx="40386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4B942"/>
                </a:solidFill>
              </a:defRPr>
            </a:pPr>
            <a:r>
              <a:rPr sz="4350" b="1">
                <a:solidFill>
                  <a:srgbClr val="F4B942"/>
                </a:solidFill>
              </a:rPr>
              <a:t>1.0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66E695-2E2E-4E80-B2A4-49B92071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43200"/>
            <a:ext cx="403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E746F"/>
                </a:solidFill>
              </a:defRPr>
            </a:pPr>
            <a:r>
              <a:rPr sz="1500" b="0">
                <a:solidFill>
                  <a:srgbClr val="6E746F"/>
                </a:solidFill>
              </a:rPr>
              <a:t>RAG recall@k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420F72-45FC-489F-8847-24A953CB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1981200"/>
            <a:ext cx="40386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85252"/>
                </a:solidFill>
              </a:defRPr>
            </a:pPr>
            <a:r>
              <a:rPr sz="4350" b="1">
                <a:solidFill>
                  <a:srgbClr val="E85252"/>
                </a:solidFill>
              </a:rPr>
              <a:t>5.0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DA678D-58CF-42A2-AE25-D611796E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743200"/>
            <a:ext cx="403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E746F"/>
                </a:solidFill>
              </a:defRPr>
            </a:pPr>
            <a:r>
              <a:rPr sz="1500" b="0">
                <a:solidFill>
                  <a:srgbClr val="6E746F"/>
                </a:solidFill>
              </a:rPr>
              <a:t>Judge score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F1BBBC-DC0E-4913-B142-82E30C6F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999220"/>
            <a:ext cx="16840200" cy="64008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C289EB-5373-46B7-9898-7950AD4A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163050"/>
            <a:ext cx="16383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315"/>
                </a:solidFill>
              </a:defRPr>
            </a:pPr>
            <a:r>
              <a:rPr sz="1950" b="1">
                <a:solidFill>
                  <a:srgbClr val="111315"/>
                </a:solidFill>
              </a:rPr>
              <a:t>端到端：2 passed；1.67s；maximum resident set size = 54,083,584 bytes。</a:t>
            </a:r>
          </a:p>
        </p:txBody>
      </p:sp>
    </p:spTree>
    <p:extLst>
      <p:ext uri="{BB962C8B-B14F-4D97-AF65-F5344CB8AC3E}">
        <p14:creationId xmlns:p14="http://schemas.microsoft.com/office/powerpoint/2010/main" val="96165475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7F570CD7-7071-4159-B665-323D389E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6"/>
          </a:solidFill>
          <a:ln xmlns:a="http://schemas.openxmlformats.org/drawingml/2006/main" w="0">
            <a:solidFill>
              <a:srgbClr val="F4F0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3D5191-759B-4586-BA54-5A1B8328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85800"/>
            <a:ext cx="16649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1315"/>
                </a:solidFill>
              </a:defRPr>
            </a:pPr>
            <a:r>
              <a:rPr sz="4050" b="1">
                <a:solidFill>
                  <a:srgbClr val="111315"/>
                </a:solidFill>
              </a:rPr>
              <a:t>履歷與面試可展示的技術能力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3FBAE2-E13A-44BA-B147-3336FA6E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09700"/>
            <a:ext cx="16649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E746F"/>
                </a:solidFill>
              </a:defRPr>
            </a:pPr>
            <a:r>
              <a:rPr sz="1800" b="0">
                <a:solidFill>
                  <a:srgbClr val="6E746F"/>
                </a:solidFill>
              </a:rPr>
              <a:t>這不是單一模型 demo，而是一條完整可交付的安全分析工程管線。</a:t>
            </a:r>
          </a:p>
        </p:txBody>
      </p:sp>
      <p:sp>
        <p:nvSpPr>
          <p:cNvPr id="4" name="step-1">
            <a:extLst xmlns:a="http://schemas.openxmlformats.org/drawingml/2006/main">
              <a:ext uri="{FF2B5EF4-FFF2-40B4-BE49-F238E27FC236}">
                <a16:creationId xmlns:a16="http://schemas.microsoft.com/office/drawing/2014/main" id="{EE90D9B1-0A3E-44D4-B728-BCCFC2FE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60520"/>
            <a:ext cx="80581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A1ADC4-753F-460A-A936-6B292EE9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7007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21A67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294D68-27A9-4049-BDBA-FC54CA14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1485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490BC1-FD80-40B9-B7C2-19990AD7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62450"/>
            <a:ext cx="6838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315"/>
                </a:solidFill>
              </a:defRPr>
            </a:pPr>
            <a:r>
              <a:rPr sz="1950" b="1">
                <a:solidFill>
                  <a:srgbClr val="111315"/>
                </a:solidFill>
              </a:rPr>
              <a:t>Security tooling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0378C3-FFFD-49FD-8160-9F8EC11C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43450"/>
            <a:ext cx="6838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E746F"/>
                </a:solidFill>
              </a:defRPr>
            </a:pPr>
            <a:r>
              <a:rPr sz="1425" b="0">
                <a:solidFill>
                  <a:srgbClr val="6E746F"/>
                </a:solidFill>
              </a:rPr>
              <a:t>Slither / solc / detector mapping / SWC。</a:t>
            </a:r>
          </a:p>
        </p:txBody>
      </p:sp>
      <p:sp>
        <p:nvSpPr>
          <p:cNvPr id="9" name="step-2">
            <a:extLst xmlns:a="http://schemas.openxmlformats.org/drawingml/2006/main">
              <a:ext uri="{FF2B5EF4-FFF2-40B4-BE49-F238E27FC236}">
                <a16:creationId xmlns:a16="http://schemas.microsoft.com/office/drawing/2014/main" id="{9C842BE6-61DB-4DDB-B5B9-EC0F720D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41620"/>
            <a:ext cx="80581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7859C9-1A4F-4C4A-A2E6-937057EC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5117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8FE1"/>
          </a:solidFill>
          <a:ln xmlns:a="http://schemas.openxmlformats.org/drawingml/2006/main" w="0">
            <a:solidFill>
              <a:srgbClr val="1D8F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12C9D1-7C1E-4DE7-BD69-0CDC20D1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9595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69F745-E7F1-4675-8999-B13CFEFF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43550"/>
            <a:ext cx="6838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315"/>
                </a:solidFill>
              </a:defRPr>
            </a:pPr>
            <a:r>
              <a:rPr sz="1950" b="1">
                <a:solidFill>
                  <a:srgbClr val="111315"/>
                </a:solidFill>
              </a:rPr>
              <a:t>AI engineering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63949D-D850-4C3E-B91E-CBD6A016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924550"/>
            <a:ext cx="6838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E746F"/>
                </a:solidFill>
              </a:defRPr>
            </a:pPr>
            <a:r>
              <a:rPr sz="1425" b="0">
                <a:solidFill>
                  <a:srgbClr val="6E746F"/>
                </a:solidFill>
              </a:rPr>
              <a:t>RAG、prompt packing、LLM-as-Judge、MLX-ready。</a:t>
            </a:r>
          </a:p>
        </p:txBody>
      </p:sp>
      <p:sp>
        <p:nvSpPr>
          <p:cNvPr id="14" name="step-3">
            <a:extLst xmlns:a="http://schemas.openxmlformats.org/drawingml/2006/main">
              <a:ext uri="{FF2B5EF4-FFF2-40B4-BE49-F238E27FC236}">
                <a16:creationId xmlns:a16="http://schemas.microsoft.com/office/drawing/2014/main" id="{595102E4-7C28-48A8-84BC-230143DF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522720"/>
            <a:ext cx="80581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20E80A-C70A-482E-BFB6-68AA94F5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73227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6FB8C6-62EE-4CF8-ADAE-E2C62628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87705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001619-B7AA-4234-A50C-CFA593C4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6724650"/>
            <a:ext cx="6838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315"/>
                </a:solidFill>
              </a:defRPr>
            </a:pPr>
            <a:r>
              <a:rPr sz="1950" b="1">
                <a:solidFill>
                  <a:srgbClr val="111315"/>
                </a:solidFill>
              </a:rPr>
              <a:t>Data engineering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5C4BBD-2092-4B0E-BD95-378D4164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7105650"/>
            <a:ext cx="6838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E746F"/>
                </a:solidFill>
              </a:defRPr>
            </a:pPr>
            <a:r>
              <a:rPr sz="1425" b="0">
                <a:solidFill>
                  <a:srgbClr val="6E746F"/>
                </a:solidFill>
              </a:rPr>
              <a:t>PDF/HTML/Markdown 萃取、metadata、manifest。</a:t>
            </a:r>
          </a:p>
        </p:txBody>
      </p:sp>
      <p:sp>
        <p:nvSpPr>
          <p:cNvPr id="19" name="step-4">
            <a:extLst xmlns:a="http://schemas.openxmlformats.org/drawingml/2006/main">
              <a:ext uri="{FF2B5EF4-FFF2-40B4-BE49-F238E27FC236}">
                <a16:creationId xmlns:a16="http://schemas.microsoft.com/office/drawing/2014/main" id="{9100DD62-D16B-4E12-87A7-E6F992D6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160520"/>
            <a:ext cx="80581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FE8A4A-C8EA-4E1A-ACEC-7287A59E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37007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252"/>
          </a:solidFill>
          <a:ln xmlns:a="http://schemas.openxmlformats.org/drawingml/2006/main" w="0">
            <a:solidFill>
              <a:srgbClr val="E8525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F7FC66-3A21-4D04-884D-CD16938A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51485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8EC5F6-08DB-4AAF-9EF0-21FF7721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362450"/>
            <a:ext cx="6838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315"/>
                </a:solidFill>
              </a:defRPr>
            </a:pPr>
            <a:r>
              <a:rPr sz="1950" b="1">
                <a:solidFill>
                  <a:srgbClr val="111315"/>
                </a:solidFill>
              </a:rPr>
              <a:t>Software delivery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B944B9-C78A-4DF8-A6E9-3851745C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43450"/>
            <a:ext cx="6838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E746F"/>
                </a:solidFill>
              </a:defRPr>
            </a:pPr>
            <a:r>
              <a:rPr sz="1425" b="0">
                <a:solidFill>
                  <a:srgbClr val="6E746F"/>
                </a:solidFill>
              </a:rPr>
              <a:t>pytest、ruff、GitHub Actions、CI 評測。</a:t>
            </a:r>
          </a:p>
        </p:txBody>
      </p:sp>
      <p:sp>
        <p:nvSpPr>
          <p:cNvPr id="24" name="step-5">
            <a:extLst xmlns:a="http://schemas.openxmlformats.org/drawingml/2006/main">
              <a:ext uri="{FF2B5EF4-FFF2-40B4-BE49-F238E27FC236}">
                <a16:creationId xmlns:a16="http://schemas.microsoft.com/office/drawing/2014/main" id="{3276CDE6-3907-4817-9F3A-894326F3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341620"/>
            <a:ext cx="80581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82E11C-F1E3-4471-A99A-4F8F576E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55117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21A67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E0E8D2-14C9-4EA4-A30D-2F5B7595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69595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57D3BA-C4CF-4C6B-AD97-7C00E4AA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543550"/>
            <a:ext cx="6838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315"/>
                </a:solidFill>
              </a:defRPr>
            </a:pPr>
            <a:r>
              <a:rPr sz="1950" b="1">
                <a:solidFill>
                  <a:srgbClr val="111315"/>
                </a:solidFill>
              </a:rPr>
              <a:t>Observability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DA95DF-E710-4456-8CD8-83F17DA4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924550"/>
            <a:ext cx="6838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E746F"/>
                </a:solidFill>
              </a:defRPr>
            </a:pPr>
            <a:r>
              <a:rPr sz="1425" b="0">
                <a:solidFill>
                  <a:srgbClr val="6E746F"/>
                </a:solidFill>
              </a:rPr>
              <a:t>SQLite trace、per-finding rag_mode、耗時。</a:t>
            </a:r>
          </a:p>
        </p:txBody>
      </p:sp>
      <p:sp>
        <p:nvSpPr>
          <p:cNvPr id="29" name="step-6">
            <a:extLst xmlns:a="http://schemas.openxmlformats.org/drawingml/2006/main">
              <a:ext uri="{FF2B5EF4-FFF2-40B4-BE49-F238E27FC236}">
                <a16:creationId xmlns:a16="http://schemas.microsoft.com/office/drawing/2014/main" id="{936BD83A-177B-4C27-9426-E18D96BB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522720"/>
            <a:ext cx="80581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9D41F5-7ADF-45D3-85C9-E1CB0799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73227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8FE1"/>
          </a:solidFill>
          <a:ln xmlns:a="http://schemas.openxmlformats.org/drawingml/2006/main" w="0">
            <a:solidFill>
              <a:srgbClr val="1D8F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6A802B-F2AC-40C8-8A78-E2DA9C18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87705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0F9FF3-9852-4B83-9366-26BFD63D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724650"/>
            <a:ext cx="6838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315"/>
                </a:solidFill>
              </a:defRPr>
            </a:pPr>
            <a:r>
              <a:rPr sz="1950" b="1">
                <a:solidFill>
                  <a:srgbClr val="111315"/>
                </a:solidFill>
              </a:rPr>
              <a:t>Resource control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3E4F7F-EA41-4AFF-9C4F-ADC299DC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105650"/>
            <a:ext cx="6838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E746F"/>
                </a:solidFill>
              </a:defRPr>
            </a:pPr>
            <a:r>
              <a:rPr sz="1425" b="0">
                <a:solidFill>
                  <a:srgbClr val="6E746F"/>
                </a:solidFill>
              </a:rPr>
              <a:t>逐 finding 批次、timeout、fallback。</a:t>
            </a:r>
          </a:p>
        </p:txBody>
      </p:sp>
    </p:spTree>
    <p:extLst>
      <p:ext uri="{BB962C8B-B14F-4D97-AF65-F5344CB8AC3E}">
        <p14:creationId xmlns:p14="http://schemas.microsoft.com/office/powerpoint/2010/main" val="150678788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5CF151B7-9020-4085-8393-CBDAA2D6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6"/>
          </a:solidFill>
          <a:ln xmlns:a="http://schemas.openxmlformats.org/drawingml/2006/main" w="0">
            <a:solidFill>
              <a:srgbClr val="F4F0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3EAAED-3E9B-4C9C-8FA1-4B5F3C10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16687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1315"/>
                </a:solidFill>
              </a:defRPr>
            </a:pPr>
            <a:r>
              <a:rPr sz="4050" b="1">
                <a:solidFill>
                  <a:srgbClr val="111315"/>
                </a:solidFill>
              </a:rPr>
              <a:t>用於製作本 PPT 的 skill 選型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E2FF75-8AD4-4427-A2E2-D18D166A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8763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E746F"/>
                </a:solidFill>
              </a:defRPr>
            </a:pPr>
            <a:r>
              <a:rPr sz="1800" b="0">
                <a:solidFill>
                  <a:srgbClr val="6E746F"/>
                </a:solidFill>
              </a:rPr>
              <a:t>搜尋結果有可用候選，但實作選擇內建 Presentations skill 以保證可編輯 PPTX 與 QA。</a:t>
            </a:r>
          </a:p>
        </p:txBody>
      </p:sp>
      <p:sp>
        <p:nvSpPr>
          <p:cNvPr id="4" name="step-1">
            <a:extLst xmlns:a="http://schemas.openxmlformats.org/drawingml/2006/main">
              <a:ext uri="{FF2B5EF4-FFF2-40B4-BE49-F238E27FC236}">
                <a16:creationId xmlns:a16="http://schemas.microsoft.com/office/drawing/2014/main" id="{2E7BB969-5791-48E2-B687-B0E3CB11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45230"/>
            <a:ext cx="80962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7A578-47BE-4DA4-A5EE-A89D6705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5478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21A67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13DFFE-F63E-418E-903C-40604E26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9575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F1B223-9072-49E9-89ED-85F101FE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962400"/>
            <a:ext cx="6877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315"/>
                </a:solidFill>
              </a:defRPr>
            </a:pPr>
            <a:r>
              <a:rPr sz="1950" b="1">
                <a:solidFill>
                  <a:srgbClr val="111315"/>
                </a:solidFill>
              </a:rPr>
              <a:t>Presentations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B0E7CE-CB3A-49C3-805A-9D17ACAE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324350"/>
            <a:ext cx="6877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E746F"/>
                </a:solidFill>
              </a:defRPr>
            </a:pPr>
            <a:r>
              <a:rPr sz="1425" b="0">
                <a:solidFill>
                  <a:srgbClr val="6E746F"/>
                </a:solidFill>
              </a:rPr>
              <a:t>內建；產出 editable PPTX、PNG preview、package QA。</a:t>
            </a:r>
          </a:p>
        </p:txBody>
      </p:sp>
      <p:sp>
        <p:nvSpPr>
          <p:cNvPr id="9" name="step-2">
            <a:extLst xmlns:a="http://schemas.openxmlformats.org/drawingml/2006/main">
              <a:ext uri="{FF2B5EF4-FFF2-40B4-BE49-F238E27FC236}">
                <a16:creationId xmlns:a16="http://schemas.microsoft.com/office/drawing/2014/main" id="{3D3E6E5F-EA71-4379-B259-D5AA68C0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64430"/>
            <a:ext cx="80962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684766-CF08-4111-B53F-86B37971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7398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8FE1"/>
          </a:solidFill>
          <a:ln xmlns:a="http://schemas.openxmlformats.org/drawingml/2006/main" w="0">
            <a:solidFill>
              <a:srgbClr val="1D8F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F3681A-F58E-4F60-B7D8-8067B88E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31495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047C84-9073-4ADF-8309-A6EE4747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181600"/>
            <a:ext cx="6877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315"/>
                </a:solidFill>
              </a:defRPr>
            </a:pPr>
            <a:r>
              <a:rPr sz="1950" b="1">
                <a:solidFill>
                  <a:srgbClr val="111315"/>
                </a:solidFill>
              </a:rPr>
              <a:t>find-skills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FE5221-AFA4-4ECA-ACB2-DFD65002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543550"/>
            <a:ext cx="6877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E746F"/>
                </a:solidFill>
              </a:defRPr>
            </a:pPr>
            <a:r>
              <a:rPr sz="1425" b="0">
                <a:solidFill>
                  <a:srgbClr val="6E746F"/>
                </a:solidFill>
              </a:rPr>
              <a:t>搜尋 PowerPoint / pitch deck 類 skills。</a:t>
            </a:r>
          </a:p>
        </p:txBody>
      </p:sp>
      <p:sp>
        <p:nvSpPr>
          <p:cNvPr id="14" name="step-3">
            <a:extLst xmlns:a="http://schemas.openxmlformats.org/drawingml/2006/main">
              <a:ext uri="{FF2B5EF4-FFF2-40B4-BE49-F238E27FC236}">
                <a16:creationId xmlns:a16="http://schemas.microsoft.com/office/drawing/2014/main" id="{86036E97-49D3-47C1-BDFC-527ED10D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83630"/>
            <a:ext cx="80962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DC5862-60DB-4C23-9936-3D81F7BD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9318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308FB8-DA04-4971-A3A3-25835F56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53415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628D98-0451-4E56-905D-3E3872A0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6400800"/>
            <a:ext cx="6877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315"/>
                </a:solidFill>
              </a:defRPr>
            </a:pPr>
            <a:r>
              <a:rPr sz="1950" b="1">
                <a:solidFill>
                  <a:srgbClr val="111315"/>
                </a:solidFill>
              </a:rPr>
              <a:t>PowerPoint candidate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4E3A51-693D-418E-BEA1-15C9012A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6762750"/>
            <a:ext cx="6877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E746F"/>
                </a:solidFill>
              </a:defRPr>
            </a:pPr>
            <a:r>
              <a:rPr sz="1425" b="0">
                <a:solidFill>
                  <a:srgbClr val="6E746F"/>
                </a:solidFill>
              </a:rPr>
              <a:t>igorwarzocha/opencode-workflows@powerpoint：1.2K installs、109 stars。</a:t>
            </a:r>
          </a:p>
        </p:txBody>
      </p:sp>
      <p:sp>
        <p:nvSpPr>
          <p:cNvPr id="19" name="step-4">
            <a:extLst xmlns:a="http://schemas.openxmlformats.org/drawingml/2006/main">
              <a:ext uri="{FF2B5EF4-FFF2-40B4-BE49-F238E27FC236}">
                <a16:creationId xmlns:a16="http://schemas.microsoft.com/office/drawing/2014/main" id="{4B2F87F8-DE94-4272-84B9-72FFBC4E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45230"/>
            <a:ext cx="80962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9BCE7A-03C6-4403-A738-FBBA849B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95478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252"/>
          </a:solidFill>
          <a:ln xmlns:a="http://schemas.openxmlformats.org/drawingml/2006/main" w="0">
            <a:solidFill>
              <a:srgbClr val="E8525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7E4B36-6303-4FAC-AF8E-6232A009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09575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683691-578C-49E3-A679-D48E14C2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962400"/>
            <a:ext cx="6877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315"/>
                </a:solidFill>
              </a:defRPr>
            </a:pPr>
            <a:r>
              <a:rPr sz="1950" b="1">
                <a:solidFill>
                  <a:srgbClr val="111315"/>
                </a:solidFill>
              </a:rPr>
              <a:t>Pitch candidate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984D5A-609B-446A-9E60-D4E0CEEE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324350"/>
            <a:ext cx="6877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E746F"/>
                </a:solidFill>
              </a:defRPr>
            </a:pPr>
            <a:r>
              <a:rPr sz="1425" b="0">
                <a:solidFill>
                  <a:srgbClr val="6E746F"/>
                </a:solidFill>
              </a:rPr>
              <a:t>ailabs-393/ai-labs-claude-skills@pitch-deck：712 installs、356 stars。</a:t>
            </a:r>
          </a:p>
        </p:txBody>
      </p:sp>
      <p:sp>
        <p:nvSpPr>
          <p:cNvPr id="24" name="step-5">
            <a:extLst xmlns:a="http://schemas.openxmlformats.org/drawingml/2006/main">
              <a:ext uri="{FF2B5EF4-FFF2-40B4-BE49-F238E27FC236}">
                <a16:creationId xmlns:a16="http://schemas.microsoft.com/office/drawing/2014/main" id="{5314AFB7-E7E2-466C-92E8-AEC1B605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964430"/>
            <a:ext cx="80962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7BEB38-5DD4-4805-8EA7-A5448FAA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17398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21A67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A6F6AF-9397-46C1-88FF-2A7277DC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31495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CBB328-003D-4256-A7F3-50EF1E40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181600"/>
            <a:ext cx="6877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315"/>
                </a:solidFill>
              </a:defRPr>
            </a:pPr>
            <a:r>
              <a:rPr sz="1950" b="1">
                <a:solidFill>
                  <a:srgbClr val="111315"/>
                </a:solidFill>
              </a:rPr>
              <a:t>未新增安裝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78AC36-6F25-4260-80A3-2EF5550F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543550"/>
            <a:ext cx="6877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E746F"/>
                </a:solidFill>
              </a:defRPr>
            </a:pPr>
            <a:r>
              <a:rPr sz="1425" b="0">
                <a:solidFill>
                  <a:srgbClr val="6E746F"/>
                </a:solidFill>
              </a:rPr>
              <a:t>內建工具已覆蓋生成、匯出、驗證；降低額外 skill 供應鏈風險。</a:t>
            </a:r>
          </a:p>
        </p:txBody>
      </p:sp>
      <p:sp>
        <p:nvSpPr>
          <p:cNvPr id="29" name="step-6">
            <a:extLst xmlns:a="http://schemas.openxmlformats.org/drawingml/2006/main">
              <a:ext uri="{FF2B5EF4-FFF2-40B4-BE49-F238E27FC236}">
                <a16:creationId xmlns:a16="http://schemas.microsoft.com/office/drawing/2014/main" id="{415E4065-2257-4E03-BAD0-7C62C26C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183630"/>
            <a:ext cx="80962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99E847-4ED0-4A5C-9872-85038290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39318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8FE1"/>
          </a:solidFill>
          <a:ln xmlns:a="http://schemas.openxmlformats.org/drawingml/2006/main" w="0">
            <a:solidFill>
              <a:srgbClr val="1D8F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4098FB-6176-4F48-8E13-999A0B49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E431EF-C4D4-42BA-8B55-1BF6ADE9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00800"/>
            <a:ext cx="6877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315"/>
                </a:solidFill>
              </a:defRPr>
            </a:pPr>
            <a:r>
              <a:rPr sz="1950" b="1">
                <a:solidFill>
                  <a:srgbClr val="111315"/>
                </a:solidFill>
              </a:rPr>
              <a:t>輸出定位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E199D1-4816-4828-A2F6-EEADB741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762750"/>
            <a:ext cx="6877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E746F"/>
                </a:solidFill>
              </a:defRPr>
            </a:pPr>
            <a:r>
              <a:rPr sz="1425" b="0">
                <a:solidFill>
                  <a:srgbClr val="6E746F"/>
                </a:solidFill>
              </a:rPr>
              <a:t>中文技術展示 / 面試講解 / 專案 demo。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8B2072-C25B-425B-AB3F-3309E5DA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991600"/>
            <a:ext cx="16687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8201D"/>
          </a:solidFill>
          <a:ln xmlns:a="http://schemas.openxmlformats.org/drawingml/2006/main" w="0">
            <a:solidFill>
              <a:srgbClr val="18201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01707D-6EC5-43C1-9E03-E45BCFDC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163050"/>
            <a:ext cx="1619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7F8EE"/>
                </a:solidFill>
              </a:defRPr>
            </a:pPr>
            <a:r>
              <a:rPr sz="1875" b="0">
                <a:solidFill>
                  <a:srgbClr val="E7F8EE"/>
                </a:solidFill>
              </a:rPr>
              <a:t>下一步可擴充：Mythril、多檔 import resolution、Foundry/Hardhat 專案支援、Dense retrieval 與真實外部 Judge。</a:t>
            </a:r>
          </a:p>
        </p:txBody>
      </p:sp>
    </p:spTree>
    <p:extLst>
      <p:ext uri="{BB962C8B-B14F-4D97-AF65-F5344CB8AC3E}">
        <p14:creationId xmlns:p14="http://schemas.microsoft.com/office/powerpoint/2010/main" val="3510463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2026-04-28T23:43:38.9800000Z</dcterms:created>
  <dcterms:modified xsi:type="dcterms:W3CDTF">2026-04-28T23:43:38.9800000Z</dcterms:modified>
</coreProperties>
</file>